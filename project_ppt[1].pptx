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20"/>
  </p:handoutMasterIdLst>
  <p:sldIdLst>
    <p:sldId id="283" r:id="rId3"/>
    <p:sldId id="273" r:id="rId4"/>
    <p:sldId id="266" r:id="rId5"/>
    <p:sldId id="267" r:id="rId6"/>
    <p:sldId id="259" r:id="rId7"/>
    <p:sldId id="260" r:id="rId9"/>
    <p:sldId id="280" r:id="rId10"/>
    <p:sldId id="268" r:id="rId11"/>
    <p:sldId id="269" r:id="rId12"/>
    <p:sldId id="281" r:id="rId13"/>
    <p:sldId id="285" r:id="rId14"/>
    <p:sldId id="286" r:id="rId15"/>
    <p:sldId id="287" r:id="rId16"/>
    <p:sldId id="284" r:id="rId17"/>
    <p:sldId id="263" r:id="rId18"/>
    <p:sldId id="27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330" y="6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6F385B-8051-46FB-AED6-3150F867EC25}"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79A44B-043E-4611-AD0D-31FAC24FFF84}"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579A44B-043E-4611-AD0D-31FAC24FFF84}"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D9472AC-C8CB-45DB-A68B-B976F8893FCE}" type="datetimeFigureOut">
              <a:rPr lang="en-IN" smtClean="0"/>
            </a:fld>
            <a:endParaRPr lang="en-IN"/>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IN"/>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00CBB67-F0EB-4742-B936-5F2870678474}" type="slidenum">
              <a:rPr lang="en-IN" smtClean="0"/>
            </a:fld>
            <a:endParaRPr lang="en-IN"/>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CD9472AC-C8CB-45DB-A68B-B976F8893FCE}" type="datetimeFigureOut">
              <a:rPr lang="en-IN" smtClean="0"/>
            </a:fld>
            <a:endParaRPr lang="en-IN"/>
          </a:p>
        </p:txBody>
      </p:sp>
      <p:sp>
        <p:nvSpPr>
          <p:cNvPr id="5" name="Footer Placeholder 4"/>
          <p:cNvSpPr>
            <a:spLocks noGrp="1"/>
          </p:cNvSpPr>
          <p:nvPr>
            <p:ph type="ftr" sz="quarter" idx="11"/>
          </p:nvPr>
        </p:nvSpPr>
        <p:spPr/>
        <p:txBody>
          <a:bodyPr/>
          <a:p>
            <a:endParaRPr lang="en-IN"/>
          </a:p>
        </p:txBody>
      </p:sp>
      <p:sp>
        <p:nvSpPr>
          <p:cNvPr id="6" name="Slide Number Placeholder 5"/>
          <p:cNvSpPr>
            <a:spLocks noGrp="1"/>
          </p:cNvSpPr>
          <p:nvPr>
            <p:ph type="sldNum" sz="quarter" idx="12"/>
          </p:nvPr>
        </p:nvSpPr>
        <p:spPr/>
        <p:txBody>
          <a:bodyPr/>
          <a:p>
            <a:fld id="{900CBB67-F0EB-4742-B936-5F2870678474}" type="slidenum">
              <a:rPr lang="en-IN" smtClean="0"/>
            </a:fld>
            <a:endParaRPr lang="en-I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CD9472AC-C8CB-45DB-A68B-B976F8893FCE}" type="datetimeFigureOut">
              <a:rPr lang="en-IN" smtClean="0"/>
            </a:fld>
            <a:endParaRPr lang="en-IN"/>
          </a:p>
        </p:txBody>
      </p:sp>
      <p:sp>
        <p:nvSpPr>
          <p:cNvPr id="5" name="Footer Placeholder 4"/>
          <p:cNvSpPr>
            <a:spLocks noGrp="1"/>
          </p:cNvSpPr>
          <p:nvPr>
            <p:ph type="ftr" sz="quarter" idx="11"/>
          </p:nvPr>
        </p:nvSpPr>
        <p:spPr/>
        <p:txBody>
          <a:bodyPr/>
          <a:p>
            <a:endParaRPr lang="en-IN"/>
          </a:p>
        </p:txBody>
      </p:sp>
      <p:sp>
        <p:nvSpPr>
          <p:cNvPr id="6" name="Slide Number Placeholder 5"/>
          <p:cNvSpPr>
            <a:spLocks noGrp="1"/>
          </p:cNvSpPr>
          <p:nvPr>
            <p:ph type="sldNum" sz="quarter" idx="12"/>
          </p:nvPr>
        </p:nvSpPr>
        <p:spPr/>
        <p:txBody>
          <a:bodyPr/>
          <a:p>
            <a:fld id="{900CBB67-F0EB-4742-B936-5F2870678474}" type="slidenum">
              <a:rPr lang="en-IN" smtClean="0"/>
            </a:fld>
            <a:endParaRPr lang="en-IN"/>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CD9472AC-C8CB-45DB-A68B-B976F8893FCE}" type="datetimeFigureOut">
              <a:rPr lang="en-IN" smtClean="0"/>
            </a:fld>
            <a:endParaRPr lang="en-IN"/>
          </a:p>
        </p:txBody>
      </p:sp>
      <p:sp>
        <p:nvSpPr>
          <p:cNvPr id="6" name="Footer Placeholder 5"/>
          <p:cNvSpPr>
            <a:spLocks noGrp="1"/>
          </p:cNvSpPr>
          <p:nvPr>
            <p:ph type="ftr" sz="quarter" idx="11"/>
          </p:nvPr>
        </p:nvSpPr>
        <p:spPr/>
        <p:txBody>
          <a:bodyPr/>
          <a:p>
            <a:endParaRPr lang="en-IN"/>
          </a:p>
        </p:txBody>
      </p:sp>
      <p:sp>
        <p:nvSpPr>
          <p:cNvPr id="7" name="Slide Number Placeholder 6"/>
          <p:cNvSpPr>
            <a:spLocks noGrp="1"/>
          </p:cNvSpPr>
          <p:nvPr>
            <p:ph type="sldNum" sz="quarter" idx="12"/>
          </p:nvPr>
        </p:nvSpPr>
        <p:spPr/>
        <p:txBody>
          <a:bodyPr/>
          <a:p>
            <a:fld id="{900CBB67-F0EB-4742-B936-5F2870678474}" type="slidenum">
              <a:rPr lang="en-IN" smtClean="0"/>
            </a:fld>
            <a:endParaRPr lang="en-IN"/>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CD9472AC-C8CB-45DB-A68B-B976F8893FCE}" type="datetimeFigureOut">
              <a:rPr lang="en-IN" smtClean="0"/>
            </a:fld>
            <a:endParaRPr lang="en-IN"/>
          </a:p>
        </p:txBody>
      </p:sp>
      <p:sp>
        <p:nvSpPr>
          <p:cNvPr id="8" name="Footer Placeholder 7"/>
          <p:cNvSpPr>
            <a:spLocks noGrp="1"/>
          </p:cNvSpPr>
          <p:nvPr>
            <p:ph type="ftr" sz="quarter" idx="11"/>
          </p:nvPr>
        </p:nvSpPr>
        <p:spPr/>
        <p:txBody>
          <a:bodyPr/>
          <a:p>
            <a:endParaRPr lang="en-IN"/>
          </a:p>
        </p:txBody>
      </p:sp>
      <p:sp>
        <p:nvSpPr>
          <p:cNvPr id="9" name="Slide Number Placeholder 8"/>
          <p:cNvSpPr>
            <a:spLocks noGrp="1"/>
          </p:cNvSpPr>
          <p:nvPr>
            <p:ph type="sldNum" sz="quarter" idx="12"/>
          </p:nvPr>
        </p:nvSpPr>
        <p:spPr/>
        <p:txBody>
          <a:bodyPr/>
          <a:p>
            <a:fld id="{900CBB67-F0EB-4742-B936-5F2870678474}" type="slidenum">
              <a:rPr lang="en-IN" smtClean="0"/>
            </a:fld>
            <a:endParaRPr lang="en-IN"/>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CD9472AC-C8CB-45DB-A68B-B976F8893FCE}" type="datetimeFigureOut">
              <a:rPr lang="en-IN" smtClean="0"/>
            </a:fld>
            <a:endParaRPr lang="en-IN"/>
          </a:p>
        </p:txBody>
      </p:sp>
      <p:sp>
        <p:nvSpPr>
          <p:cNvPr id="4" name="Footer Placeholder 3"/>
          <p:cNvSpPr>
            <a:spLocks noGrp="1"/>
          </p:cNvSpPr>
          <p:nvPr>
            <p:ph type="ftr" sz="quarter" idx="11"/>
          </p:nvPr>
        </p:nvSpPr>
        <p:spPr/>
        <p:txBody>
          <a:bodyPr/>
          <a:p>
            <a:endParaRPr lang="en-IN"/>
          </a:p>
        </p:txBody>
      </p:sp>
      <p:sp>
        <p:nvSpPr>
          <p:cNvPr id="5" name="Slide Number Placeholder 4"/>
          <p:cNvSpPr>
            <a:spLocks noGrp="1"/>
          </p:cNvSpPr>
          <p:nvPr>
            <p:ph type="sldNum" sz="quarter" idx="12"/>
          </p:nvPr>
        </p:nvSpPr>
        <p:spPr/>
        <p:txBody>
          <a:bodyPr/>
          <a:p>
            <a:fld id="{900CBB67-F0EB-4742-B936-5F2870678474}" type="slidenum">
              <a:rPr lang="en-IN" smtClean="0"/>
            </a:fld>
            <a:endParaRPr lang="en-I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CD9472AC-C8CB-45DB-A68B-B976F8893FCE}" type="datetimeFigureOut">
              <a:rPr lang="en-IN" smtClean="0"/>
            </a:fld>
            <a:endParaRPr lang="en-IN"/>
          </a:p>
        </p:txBody>
      </p:sp>
      <p:sp>
        <p:nvSpPr>
          <p:cNvPr id="3" name="Footer Placeholder 2"/>
          <p:cNvSpPr>
            <a:spLocks noGrp="1"/>
          </p:cNvSpPr>
          <p:nvPr>
            <p:ph type="ftr" sz="quarter" idx="11"/>
          </p:nvPr>
        </p:nvSpPr>
        <p:spPr/>
        <p:txBody>
          <a:bodyPr/>
          <a:p>
            <a:endParaRPr lang="en-IN"/>
          </a:p>
        </p:txBody>
      </p:sp>
      <p:sp>
        <p:nvSpPr>
          <p:cNvPr id="4" name="Slide Number Placeholder 3"/>
          <p:cNvSpPr>
            <a:spLocks noGrp="1"/>
          </p:cNvSpPr>
          <p:nvPr>
            <p:ph type="sldNum" sz="quarter" idx="12"/>
          </p:nvPr>
        </p:nvSpPr>
        <p:spPr/>
        <p:txBody>
          <a:bodyPr/>
          <a:p>
            <a:fld id="{900CBB67-F0EB-4742-B936-5F2870678474}" type="slidenum">
              <a:rPr lang="en-IN" smtClean="0"/>
            </a:fld>
            <a:endParaRPr lang="en-IN"/>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CD9472AC-C8CB-45DB-A68B-B976F8893FCE}" type="datetimeFigureOut">
              <a:rPr lang="en-IN" smtClean="0"/>
            </a:fld>
            <a:endParaRPr lang="en-IN"/>
          </a:p>
        </p:txBody>
      </p:sp>
      <p:sp>
        <p:nvSpPr>
          <p:cNvPr id="6" name="Footer Placeholder 5"/>
          <p:cNvSpPr>
            <a:spLocks noGrp="1"/>
          </p:cNvSpPr>
          <p:nvPr>
            <p:ph type="ftr" sz="quarter" idx="11"/>
          </p:nvPr>
        </p:nvSpPr>
        <p:spPr/>
        <p:txBody>
          <a:bodyPr/>
          <a:p>
            <a:endParaRPr lang="en-IN"/>
          </a:p>
        </p:txBody>
      </p:sp>
      <p:sp>
        <p:nvSpPr>
          <p:cNvPr id="7" name="Slide Number Placeholder 6"/>
          <p:cNvSpPr>
            <a:spLocks noGrp="1"/>
          </p:cNvSpPr>
          <p:nvPr>
            <p:ph type="sldNum" sz="quarter" idx="12"/>
          </p:nvPr>
        </p:nvSpPr>
        <p:spPr/>
        <p:txBody>
          <a:bodyPr/>
          <a:p>
            <a:fld id="{900CBB67-F0EB-4742-B936-5F2870678474}" type="slidenum">
              <a:rPr lang="en-IN" smtClean="0"/>
            </a:fld>
            <a:endParaRPr lang="en-I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CD9472AC-C8CB-45DB-A68B-B976F8893FCE}" type="datetimeFigureOut">
              <a:rPr lang="en-IN" smtClean="0"/>
            </a:fld>
            <a:endParaRPr lang="en-IN"/>
          </a:p>
        </p:txBody>
      </p:sp>
      <p:sp>
        <p:nvSpPr>
          <p:cNvPr id="6" name="Footer Placeholder 5"/>
          <p:cNvSpPr>
            <a:spLocks noGrp="1"/>
          </p:cNvSpPr>
          <p:nvPr>
            <p:ph type="ftr" sz="quarter" idx="11"/>
          </p:nvPr>
        </p:nvSpPr>
        <p:spPr/>
        <p:txBody>
          <a:bodyPr/>
          <a:p>
            <a:endParaRPr lang="en-IN"/>
          </a:p>
        </p:txBody>
      </p:sp>
      <p:sp>
        <p:nvSpPr>
          <p:cNvPr id="7" name="Slide Number Placeholder 6"/>
          <p:cNvSpPr>
            <a:spLocks noGrp="1"/>
          </p:cNvSpPr>
          <p:nvPr>
            <p:ph type="sldNum" sz="quarter" idx="12"/>
          </p:nvPr>
        </p:nvSpPr>
        <p:spPr/>
        <p:txBody>
          <a:bodyPr/>
          <a:p>
            <a:fld id="{900CBB67-F0EB-4742-B936-5F2870678474}" type="slidenum">
              <a:rPr lang="en-IN" smtClean="0"/>
            </a:fld>
            <a:endParaRPr lang="en-IN"/>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CD9472AC-C8CB-45DB-A68B-B976F8893FCE}" type="datetimeFigureOut">
              <a:rPr lang="en-IN" smtClean="0"/>
            </a:fld>
            <a:endParaRPr lang="en-IN"/>
          </a:p>
        </p:txBody>
      </p:sp>
      <p:sp>
        <p:nvSpPr>
          <p:cNvPr id="5" name="Footer Placeholder 4"/>
          <p:cNvSpPr>
            <a:spLocks noGrp="1"/>
          </p:cNvSpPr>
          <p:nvPr>
            <p:ph type="ftr" sz="quarter" idx="11"/>
          </p:nvPr>
        </p:nvSpPr>
        <p:spPr/>
        <p:txBody>
          <a:bodyPr/>
          <a:p>
            <a:endParaRPr lang="en-IN"/>
          </a:p>
        </p:txBody>
      </p:sp>
      <p:sp>
        <p:nvSpPr>
          <p:cNvPr id="6" name="Slide Number Placeholder 5"/>
          <p:cNvSpPr>
            <a:spLocks noGrp="1"/>
          </p:cNvSpPr>
          <p:nvPr>
            <p:ph type="sldNum" sz="quarter" idx="12"/>
          </p:nvPr>
        </p:nvSpPr>
        <p:spPr/>
        <p:txBody>
          <a:bodyPr/>
          <a:p>
            <a:fld id="{900CBB67-F0EB-4742-B936-5F2870678474}" type="slidenum">
              <a:rPr lang="en-IN" smtClean="0"/>
            </a:fld>
            <a:endParaRPr lang="en-I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CD9472AC-C8CB-45DB-A68B-B976F8893FCE}" type="datetimeFigureOut">
              <a:rPr lang="en-IN" smtClean="0"/>
            </a:fld>
            <a:endParaRPr lang="en-IN"/>
          </a:p>
        </p:txBody>
      </p:sp>
      <p:sp>
        <p:nvSpPr>
          <p:cNvPr id="5" name="Footer Placeholder 4"/>
          <p:cNvSpPr>
            <a:spLocks noGrp="1"/>
          </p:cNvSpPr>
          <p:nvPr>
            <p:ph type="ftr" sz="quarter" idx="11"/>
          </p:nvPr>
        </p:nvSpPr>
        <p:spPr/>
        <p:txBody>
          <a:bodyPr/>
          <a:p>
            <a:endParaRPr lang="en-IN"/>
          </a:p>
        </p:txBody>
      </p:sp>
      <p:sp>
        <p:nvSpPr>
          <p:cNvPr id="6" name="Slide Number Placeholder 5"/>
          <p:cNvSpPr>
            <a:spLocks noGrp="1"/>
          </p:cNvSpPr>
          <p:nvPr>
            <p:ph type="sldNum" sz="quarter" idx="12"/>
          </p:nvPr>
        </p:nvSpPr>
        <p:spPr/>
        <p:txBody>
          <a:bodyPr/>
          <a:p>
            <a:fld id="{900CBB67-F0EB-4742-B936-5F2870678474}" type="slidenum">
              <a:rPr lang="en-IN" smtClean="0"/>
            </a:fld>
            <a:endParaRPr lang="en-IN"/>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3"/>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CD9472AC-C8CB-45DB-A68B-B976F8893FCE}" type="datetimeFigureOut">
              <a:rPr lang="en-IN" smtClean="0"/>
            </a:fld>
            <a:endParaRPr lang="en-IN"/>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IN"/>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00CBB67-F0EB-4742-B936-5F287067847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605" y="-160378"/>
            <a:ext cx="10736687" cy="894051"/>
          </a:xfrm>
        </p:spPr>
        <p:txBody>
          <a:bodyPr>
            <a:normAutofit fontScale="90000"/>
          </a:bodyPr>
          <a:lstStyle/>
          <a:p>
            <a:br>
              <a:rPr lang="en-US" b="1" dirty="0" smtClean="0"/>
            </a:br>
            <a:br>
              <a:rPr lang="en-US" b="1" dirty="0"/>
            </a:br>
            <a:br>
              <a:rPr lang="en-US" b="1" dirty="0" smtClean="0"/>
            </a:br>
            <a:br>
              <a:rPr lang="en-US" b="1" dirty="0"/>
            </a:br>
            <a:br>
              <a:rPr lang="en-US" b="1" dirty="0" smtClean="0"/>
            </a:br>
            <a:br>
              <a:rPr lang="en-US" b="1" dirty="0"/>
            </a:br>
            <a:endParaRPr lang="en-US" b="1" dirty="0"/>
          </a:p>
        </p:txBody>
      </p:sp>
      <p:sp>
        <p:nvSpPr>
          <p:cNvPr id="3" name="Content Placeholder 2"/>
          <p:cNvSpPr>
            <a:spLocks noGrp="1"/>
          </p:cNvSpPr>
          <p:nvPr>
            <p:ph idx="1"/>
          </p:nvPr>
        </p:nvSpPr>
        <p:spPr>
          <a:xfrm>
            <a:off x="264160" y="1409065"/>
            <a:ext cx="11674475" cy="5544185"/>
          </a:xfrm>
        </p:spPr>
        <p:txBody>
          <a:bodyPr vert="horz" lIns="91440" tIns="45720" rIns="91440" bIns="45720" rtlCol="0" anchor="t">
            <a:normAutofit/>
          </a:bodyPr>
          <a:lstStyle/>
          <a:p>
            <a:pPr marL="0" indent="0" algn="ctr">
              <a:buNone/>
            </a:pPr>
            <a:r>
              <a:rPr lang="en-US" sz="2600" b="1" dirty="0" smtClean="0">
                <a:latin typeface="Times New Roman" panose="02020603050405020304" pitchFamily="18" charset="0"/>
                <a:cs typeface="Times New Roman" panose="02020603050405020304" pitchFamily="18" charset="0"/>
                <a:sym typeface="+mn-ea"/>
              </a:rPr>
              <a:t>Department  of - </a:t>
            </a:r>
            <a:r>
              <a:rPr lang="en-US" altLang="en-US" sz="2600" b="1" dirty="0" smtClean="0">
                <a:latin typeface="Times New Roman" panose="02020603050405020304" pitchFamily="18" charset="0"/>
                <a:cs typeface="Times New Roman" panose="02020603050405020304" pitchFamily="18" charset="0"/>
                <a:sym typeface="+mn-ea"/>
              </a:rPr>
              <a:t>Artificial Intelligence and Machine Learning</a:t>
            </a:r>
            <a:endParaRPr lang="en-US" altLang="en-US" sz="2600" b="1" dirty="0" smtClean="0">
              <a:latin typeface="Times New Roman" panose="02020603050405020304" pitchFamily="18" charset="0"/>
              <a:cs typeface="Times New Roman" panose="02020603050405020304" pitchFamily="18" charset="0"/>
              <a:sym typeface="+mn-ea"/>
            </a:endParaRPr>
          </a:p>
          <a:p>
            <a:pPr marL="2171700" lvl="4" indent="457200" algn="l">
              <a:buNone/>
            </a:pPr>
            <a:endParaRPr lang="en-US" altLang="en-US" sz="2600" b="1" dirty="0" smtClean="0">
              <a:latin typeface="Times New Roman" panose="02020603050405020304" pitchFamily="18" charset="0"/>
              <a:cs typeface="Times New Roman" panose="02020603050405020304" pitchFamily="18" charset="0"/>
              <a:sym typeface="+mn-ea"/>
            </a:endParaRPr>
          </a:p>
          <a:p>
            <a:pPr marL="2171700" lvl="4" indent="457200" algn="l">
              <a:buNone/>
            </a:pPr>
            <a:r>
              <a:rPr lang="en-US" altLang="en-US" sz="2800" b="1" dirty="0" smtClean="0">
                <a:latin typeface="Times New Roman" panose="02020603050405020304" pitchFamily="18" charset="0"/>
                <a:cs typeface="Times New Roman" panose="02020603050405020304" pitchFamily="18" charset="0"/>
                <a:sym typeface="+mn-ea"/>
              </a:rPr>
              <a:t>Vehicle Speed Estimation Using Open CV Python</a:t>
            </a:r>
            <a:endParaRPr lang="en-US" altLang="en-US" sz="2800" b="1" dirty="0" smtClean="0">
              <a:latin typeface="Times New Roman" panose="02020603050405020304" pitchFamily="18" charset="0"/>
              <a:cs typeface="Times New Roman" panose="02020603050405020304" pitchFamily="18" charset="0"/>
            </a:endParaRPr>
          </a:p>
          <a:p>
            <a:pPr algn="ctr">
              <a:buNone/>
            </a:pPr>
            <a:r>
              <a:rPr lang="en-US" sz="2400" dirty="0" smtClean="0"/>
              <a:t>By </a:t>
            </a:r>
            <a:endParaRPr lang="en-US" sz="4000" dirty="0" smtClean="0"/>
          </a:p>
          <a:p>
            <a:pPr marL="0" indent="0" algn="ctr">
              <a:buNone/>
            </a:pPr>
            <a:r>
              <a:rPr lang="en-US" altLang="en-US" sz="2600" b="1" dirty="0">
                <a:cs typeface="Times New Roman" panose="02020603050405020304" pitchFamily="18" charset="0"/>
                <a:sym typeface="+mn-ea"/>
              </a:rPr>
              <a:t>Keshav Rajesh Joshi</a:t>
            </a:r>
            <a:endParaRPr lang="en-US" altLang="en-US" sz="2600" b="1" dirty="0">
              <a:cs typeface="Times New Roman" panose="02020603050405020304" pitchFamily="18" charset="0"/>
            </a:endParaRPr>
          </a:p>
          <a:p>
            <a:pPr marL="0" indent="0" algn="ctr">
              <a:buNone/>
            </a:pPr>
            <a:endParaRPr lang="en-US" altLang="en-US" sz="2600" b="1" dirty="0" smtClean="0">
              <a:latin typeface="Times New Roman" panose="02020603050405020304" pitchFamily="18" charset="0"/>
              <a:cs typeface="Times New Roman" panose="02020603050405020304" pitchFamily="18" charset="0"/>
              <a:sym typeface="+mn-ea"/>
            </a:endParaRPr>
          </a:p>
          <a:p>
            <a:pPr marL="0" indent="0">
              <a:buFont typeface="Wingdings" panose="05000000000000000000" pitchFamily="2" charset="2"/>
              <a:buNone/>
            </a:pPr>
            <a:endParaRPr lang="en-US" sz="2600" dirty="0">
              <a:latin typeface="Times New Roman" panose="02020603050405020304" pitchFamily="18" charset="0"/>
              <a:cs typeface="Times New Roman" panose="02020603050405020304" pitchFamily="18" charset="0"/>
            </a:endParaRPr>
          </a:p>
        </p:txBody>
      </p:sp>
      <p:pic>
        <p:nvPicPr>
          <p:cNvPr id="4" name="Image 1"/>
          <p:cNvPicPr/>
          <p:nvPr/>
        </p:nvPicPr>
        <p:blipFill>
          <a:blip r:embed="rId1" cstate="print"/>
          <a:stretch>
            <a:fillRect/>
          </a:stretch>
        </p:blipFill>
        <p:spPr>
          <a:xfrm>
            <a:off x="264259" y="86723"/>
            <a:ext cx="1438141" cy="1218967"/>
          </a:xfrm>
          <a:prstGeom prst="rect">
            <a:avLst/>
          </a:prstGeom>
        </p:spPr>
      </p:pic>
      <p:sp>
        <p:nvSpPr>
          <p:cNvPr id="5" name="TextBox 4"/>
          <p:cNvSpPr txBox="1"/>
          <p:nvPr/>
        </p:nvSpPr>
        <p:spPr>
          <a:xfrm>
            <a:off x="1906905" y="190500"/>
            <a:ext cx="9079865" cy="727710"/>
          </a:xfrm>
          <a:prstGeom prst="rect">
            <a:avLst/>
          </a:prstGeom>
          <a:noFill/>
        </p:spPr>
        <p:txBody>
          <a:bodyPr wrap="square" rtlCol="0">
            <a:noAutofit/>
          </a:bodyPr>
          <a:lstStyle/>
          <a:p>
            <a:r>
              <a:rPr lang="en-US" sz="3600" dirty="0">
                <a:solidFill>
                  <a:schemeClr val="tx2"/>
                </a:solidFill>
              </a:rPr>
              <a:t>YADAVRAO TASGAONKAR INSTITUTE OF ENGINEERING AND </a:t>
            </a:r>
            <a:r>
              <a:rPr lang="en-US" sz="3600" dirty="0" smtClean="0">
                <a:solidFill>
                  <a:schemeClr val="tx2"/>
                </a:solidFill>
              </a:rPr>
              <a:t>TECHNOLOGY</a:t>
            </a:r>
            <a:endParaRPr lang="en-US" sz="3600" dirty="0">
              <a:solidFill>
                <a:schemeClr val="tx2"/>
              </a:solidFill>
            </a:endParaRPr>
          </a:p>
        </p:txBody>
      </p:sp>
    </p:spTree>
  </p:cSld>
  <p:clrMapOvr>
    <a:masterClrMapping/>
  </p:clrMapOvr>
  <p:transition>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t> </a:t>
            </a:r>
            <a:r>
              <a:rPr lang="en-US" sz="4000">
                <a:latin typeface="Times New Roman" panose="02020603050405020304" pitchFamily="18" charset="0"/>
                <a:cs typeface="Times New Roman" panose="02020603050405020304" pitchFamily="18" charset="0"/>
              </a:rPr>
              <a:t> Abstract</a:t>
            </a:r>
            <a:endParaRPr lang="en-US" sz="40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pPr algn="l">
              <a:lnSpc>
                <a:spcPct val="110000"/>
              </a:lnSpc>
            </a:pPr>
            <a:r>
              <a:rPr lang="en-US" altLang="en-US" sz="2400" dirty="0">
                <a:latin typeface="Times New Roman" panose="02020603050405020304" pitchFamily="18" charset="0"/>
                <a:cs typeface="Times New Roman" panose="02020603050405020304" pitchFamily="18" charset="0"/>
                <a:sym typeface="+mn-ea"/>
              </a:rPr>
              <a:t> </a:t>
            </a:r>
            <a:r>
              <a:rPr lang="en-US" altLang="en-US" sz="2200" dirty="0">
                <a:latin typeface="Times New Roman" panose="02020603050405020304" pitchFamily="18" charset="0"/>
                <a:cs typeface="Times New Roman" panose="02020603050405020304" pitchFamily="18" charset="0"/>
                <a:sym typeface="+mn-ea"/>
              </a:rPr>
              <a:t>This project estimates vehicle speed using OpenCV and Python for traffic monitoring and safety.</a:t>
            </a:r>
            <a:endParaRPr lang="en-US" altLang="en-US" sz="2200" dirty="0">
              <a:latin typeface="Times New Roman" panose="02020603050405020304" pitchFamily="18" charset="0"/>
              <a:cs typeface="Times New Roman" panose="02020603050405020304" pitchFamily="18" charset="0"/>
              <a:sym typeface="+mn-ea"/>
            </a:endParaRPr>
          </a:p>
          <a:p>
            <a:pPr algn="l">
              <a:lnSpc>
                <a:spcPct val="110000"/>
              </a:lnSpc>
            </a:pPr>
            <a:r>
              <a:rPr lang="en-US" altLang="en-US" sz="2200" dirty="0">
                <a:latin typeface="Times New Roman" panose="02020603050405020304" pitchFamily="18" charset="0"/>
                <a:cs typeface="Times New Roman" panose="02020603050405020304" pitchFamily="18" charset="0"/>
                <a:sym typeface="+mn-ea"/>
              </a:rPr>
              <a:t>It uses YOLO object detection to identify </a:t>
            </a:r>
            <a:r>
              <a:rPr lang="en-US" altLang="en-US" sz="2200" dirty="0">
                <a:latin typeface="Times New Roman" panose="02020603050405020304" pitchFamily="18" charset="0"/>
                <a:cs typeface="Times New Roman" panose="02020603050405020304" pitchFamily="18" charset="0"/>
                <a:sym typeface="+mn-ea"/>
              </a:rPr>
              <a:t>vehicles</a:t>
            </a:r>
            <a:r>
              <a:rPr lang="en-US" altLang="en-US" sz="2200" dirty="0">
                <a:latin typeface="Times New Roman" panose="02020603050405020304" pitchFamily="18" charset="0"/>
                <a:cs typeface="Times New Roman" panose="02020603050405020304" pitchFamily="18" charset="0"/>
                <a:sym typeface="+mn-ea"/>
              </a:rPr>
              <a:t> in a video feed.</a:t>
            </a:r>
            <a:endParaRPr lang="en-US" altLang="en-US" sz="2200" dirty="0">
              <a:latin typeface="Times New Roman" panose="02020603050405020304" pitchFamily="18" charset="0"/>
              <a:cs typeface="Times New Roman" panose="02020603050405020304" pitchFamily="18" charset="0"/>
              <a:sym typeface="+mn-ea"/>
            </a:endParaRPr>
          </a:p>
          <a:p>
            <a:pPr algn="l">
              <a:lnSpc>
                <a:spcPct val="110000"/>
              </a:lnSpc>
            </a:pPr>
            <a:r>
              <a:rPr lang="en-US" altLang="en-US" sz="2200" dirty="0">
                <a:latin typeface="Times New Roman" panose="02020603050405020304" pitchFamily="18" charset="0"/>
                <a:cs typeface="Times New Roman" panose="02020603050405020304" pitchFamily="18" charset="0"/>
                <a:sym typeface="+mn-ea"/>
              </a:rPr>
              <a:t>An object tracking algorithm follows vehicles across frames to measure movement.</a:t>
            </a:r>
            <a:endParaRPr lang="en-US" altLang="en-US" sz="2200" dirty="0">
              <a:latin typeface="Times New Roman" panose="02020603050405020304" pitchFamily="18" charset="0"/>
              <a:cs typeface="Times New Roman" panose="02020603050405020304" pitchFamily="18" charset="0"/>
              <a:sym typeface="+mn-ea"/>
            </a:endParaRPr>
          </a:p>
          <a:p>
            <a:pPr algn="l">
              <a:lnSpc>
                <a:spcPct val="110000"/>
              </a:lnSpc>
            </a:pPr>
            <a:r>
              <a:rPr lang="en-US" altLang="en-US" sz="2200" dirty="0">
                <a:latin typeface="Times New Roman" panose="02020603050405020304" pitchFamily="18" charset="0"/>
                <a:cs typeface="Times New Roman" panose="02020603050405020304" pitchFamily="18" charset="0"/>
                <a:sym typeface="+mn-ea"/>
              </a:rPr>
              <a:t>Speed is calculated by tracking the time taken to cross a predefined distance.</a:t>
            </a:r>
            <a:endParaRPr lang="en-US" altLang="en-US" sz="2200" dirty="0">
              <a:latin typeface="Times New Roman" panose="02020603050405020304" pitchFamily="18" charset="0"/>
              <a:cs typeface="Times New Roman" panose="02020603050405020304" pitchFamily="18" charset="0"/>
              <a:sym typeface="+mn-ea"/>
            </a:endParaRPr>
          </a:p>
          <a:p>
            <a:pPr algn="l">
              <a:lnSpc>
                <a:spcPct val="110000"/>
              </a:lnSpc>
            </a:pPr>
            <a:r>
              <a:rPr lang="en-US" altLang="en-US" sz="2200" dirty="0">
                <a:latin typeface="Times New Roman" panose="02020603050405020304" pitchFamily="18" charset="0"/>
                <a:cs typeface="Times New Roman" panose="02020603050405020304" pitchFamily="18" charset="0"/>
                <a:sym typeface="+mn-ea"/>
              </a:rPr>
              <a:t>The system works without additional hardware, making it cost-effective.</a:t>
            </a:r>
            <a:endParaRPr lang="en-US" altLang="en-US" sz="2200" dirty="0">
              <a:latin typeface="Times New Roman" panose="02020603050405020304" pitchFamily="18" charset="0"/>
              <a:cs typeface="Times New Roman" panose="02020603050405020304" pitchFamily="18" charset="0"/>
              <a:sym typeface="+mn-ea"/>
            </a:endParaRPr>
          </a:p>
          <a:p>
            <a:pPr algn="l">
              <a:lnSpc>
                <a:spcPct val="110000"/>
              </a:lnSpc>
            </a:pPr>
            <a:r>
              <a:rPr lang="en-US" altLang="en-US" sz="2200" dirty="0">
                <a:latin typeface="Times New Roman" panose="02020603050405020304" pitchFamily="18" charset="0"/>
                <a:cs typeface="Times New Roman" panose="02020603050405020304" pitchFamily="18" charset="0"/>
                <a:sym typeface="+mn-ea"/>
              </a:rPr>
              <a:t>No database is used, focusing on real-time video processing.</a:t>
            </a:r>
            <a:endParaRPr lang="en-US" altLang="en-US" sz="2200" dirty="0">
              <a:latin typeface="Times New Roman" panose="02020603050405020304" pitchFamily="18" charset="0"/>
              <a:cs typeface="Times New Roman" panose="02020603050405020304" pitchFamily="18" charset="0"/>
              <a:sym typeface="+mn-ea"/>
            </a:endParaRPr>
          </a:p>
          <a:p>
            <a:pPr algn="l">
              <a:lnSpc>
                <a:spcPct val="110000"/>
              </a:lnSpc>
            </a:pPr>
            <a:r>
              <a:rPr lang="en-US" altLang="en-US" sz="2200" dirty="0">
                <a:latin typeface="Times New Roman" panose="02020603050405020304" pitchFamily="18" charset="0"/>
                <a:cs typeface="Times New Roman" panose="02020603050405020304" pitchFamily="18" charset="0"/>
                <a:sym typeface="+mn-ea"/>
              </a:rPr>
              <a:t>Operates without a database, emphasizing real-time video analysis.</a:t>
            </a:r>
            <a:endParaRPr lang="en-US" altLang="en-US" sz="2200" dirty="0">
              <a:latin typeface="Times New Roman" panose="02020603050405020304" pitchFamily="18" charset="0"/>
              <a:cs typeface="Times New Roman" panose="02020603050405020304" pitchFamily="18" charset="0"/>
              <a:sym typeface="+mn-ea"/>
            </a:endParaRPr>
          </a:p>
          <a:p>
            <a:pPr algn="l">
              <a:lnSpc>
                <a:spcPct val="110000"/>
              </a:lnSpc>
            </a:pPr>
            <a:r>
              <a:rPr lang="en-US" altLang="en-US" sz="2200" dirty="0">
                <a:latin typeface="Times New Roman" panose="02020603050405020304" pitchFamily="18" charset="0"/>
                <a:cs typeface="Times New Roman" panose="02020603050405020304" pitchFamily="18" charset="0"/>
                <a:sym typeface="+mn-ea"/>
              </a:rPr>
              <a:t>Effective for traffic monitoring, speed management, and accident avoidance.</a:t>
            </a:r>
            <a:endParaRPr lang="en-US" altLang="en-US" sz="22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773430"/>
          </a:xfrm>
        </p:spPr>
        <p:txBody>
          <a:bodyPr/>
          <a:lstStyle/>
          <a:p>
            <a:pPr algn="ctr"/>
            <a:r>
              <a:rPr lang="en-IN" dirty="0"/>
              <a:t>     </a:t>
            </a:r>
            <a:r>
              <a:rPr lang="en-IN" dirty="0">
                <a:latin typeface="Times New Roman" panose="02020603050405020304" pitchFamily="18" charset="0"/>
                <a:cs typeface="Times New Roman" panose="02020603050405020304" pitchFamily="18" charset="0"/>
              </a:rPr>
              <a:t>INTRODUCTION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548765"/>
            <a:ext cx="11582400" cy="5309235"/>
          </a:xfrm>
        </p:spPr>
        <p:txBody>
          <a:bodyPr/>
          <a:lstStyle/>
          <a:p>
            <a:pPr marL="0" indent="0">
              <a:lnSpc>
                <a:spcPct val="150000"/>
              </a:lnSpc>
              <a:buNone/>
            </a:pPr>
            <a:r>
              <a:rPr lang="en-US" sz="2200" dirty="0">
                <a:latin typeface="Times New Roman" panose="02020603050405020304" pitchFamily="18" charset="0"/>
                <a:cs typeface="Times New Roman" panose="02020603050405020304" pitchFamily="18" charset="0"/>
              </a:rPr>
              <a:t>Vehicle speed estimation using  processing video streams, vehicles are identified, tracked, and their movement analyzed to calculate speed. OpenCV, an open-source computer vision library, provides the necessary tools for image processing, object detection, and tracking, while Python serves as the programming language for implementing the algorithms. The process typically involves object detection (e.g., using YOLO or similar models), object tracking.</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9921240" cy="712840"/>
          </a:xfrm>
        </p:spPr>
        <p:txBody>
          <a:bodyPr>
            <a:normAutofit/>
          </a:bodyPr>
          <a:lstStyle/>
          <a:p>
            <a:pPr algn="ctr"/>
            <a:r>
              <a:rPr lang="en-IN" sz="4000" dirty="0"/>
              <a:t>  </a:t>
            </a:r>
            <a:r>
              <a:rPr lang="en-IN" sz="4000" dirty="0">
                <a:latin typeface="Times New Roman" panose="02020603050405020304" pitchFamily="18" charset="0"/>
                <a:cs typeface="Times New Roman" panose="02020603050405020304" pitchFamily="18" charset="0"/>
              </a:rPr>
              <a:t>Features</a:t>
            </a:r>
            <a:endParaRPr lang="en-IN" sz="4000"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173621" y="1496793"/>
            <a:ext cx="12192000" cy="4602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Background Subtraction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Detects moving vehicles by removing static elements, aiding in speed estimation.</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Optical Flow Tracking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Analyzes pixel movement between frames to determine vehicle velocity.</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YOLO-Based Object Detection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Uses deep learning for accurate vehicle detection and tracking.</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Line-Crossing Method</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Measures speed by tracking time taken to pass virtual markers.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Processing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Ensures immediate speed calculation for live traffic monitoring.</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Vehicle Tracking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Simultaneously estimates speeds of multiple vehicles in a frame.</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Frame-to-Distance Conversion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Maps pixel movement to real-world distances for precise speed estimation.</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2105"/>
            <a:ext cx="10515600" cy="686435"/>
          </a:xfrm>
        </p:spPr>
        <p:txBody>
          <a:bodyPr/>
          <a:lstStyle/>
          <a:p>
            <a:pPr algn="ctr"/>
            <a:r>
              <a:rPr lang="en-IN" sz="4000" b="1" dirty="0">
                <a:latin typeface="Times New Roman" panose="02020603050405020304" pitchFamily="18" charset="0"/>
                <a:cs typeface="Times New Roman" panose="02020603050405020304" pitchFamily="18" charset="0"/>
              </a:rPr>
              <a:t>SCOPE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6070" y="1508125"/>
            <a:ext cx="11885295" cy="7312025"/>
          </a:xfrm>
        </p:spPr>
        <p:txBody>
          <a:bodyPr>
            <a:normAutofit fontScale="25000" lnSpcReduction="20000"/>
          </a:bodyPr>
          <a:lstStyle/>
          <a:p>
            <a:pPr>
              <a:lnSpc>
                <a:spcPct val="150000"/>
              </a:lnSpc>
            </a:pPr>
            <a:r>
              <a:rPr lang="en-US" sz="8800" kern="100" dirty="0">
                <a:effectLst/>
                <a:latin typeface="Times New Roman" panose="02020603050405020304" pitchFamily="18" charset="0"/>
                <a:ea typeface="Calibri" panose="020F0502020204030204" pitchFamily="34" charset="0"/>
                <a:cs typeface="Times New Roman" panose="02020603050405020304" pitchFamily="18" charset="0"/>
              </a:rPr>
              <a:t>Estimation of vehicle speed is important in traffic management, road safety</a:t>
            </a:r>
            <a:r>
              <a:rPr lang="en-US" sz="8800" kern="100" dirty="0">
                <a:latin typeface="Times New Roman" panose="02020603050405020304" pitchFamily="18" charset="0"/>
                <a:ea typeface="Calibri" panose="020F0502020204030204" pitchFamily="34" charset="0"/>
                <a:cs typeface="Times New Roman" panose="02020603050405020304" pitchFamily="18" charset="0"/>
              </a:rPr>
              <a:t>.</a:t>
            </a:r>
            <a:endParaRPr lang="en-US" sz="8800" kern="1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r>
              <a:rPr lang="en-US" sz="8800" kern="100" dirty="0">
                <a:effectLst/>
                <a:latin typeface="Times New Roman" panose="02020603050405020304" pitchFamily="18" charset="0"/>
                <a:ea typeface="Calibri" panose="020F0502020204030204" pitchFamily="34" charset="0"/>
                <a:cs typeface="Times New Roman" panose="02020603050405020304" pitchFamily="18" charset="0"/>
              </a:rPr>
              <a:t>It allows for real-time vehicle speed monitoring to detect offenses and reduce accidents.</a:t>
            </a:r>
            <a:endParaRPr lang="en-US"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r>
              <a:rPr lang="en-US" sz="8800" kern="100" dirty="0">
                <a:effectLst/>
                <a:latin typeface="Times New Roman" panose="02020603050405020304" pitchFamily="18" charset="0"/>
                <a:ea typeface="Calibri" panose="020F0502020204030204" pitchFamily="34" charset="0"/>
                <a:cs typeface="Times New Roman" panose="02020603050405020304" pitchFamily="18" charset="0"/>
              </a:rPr>
              <a:t> Vehicle speed estimation is used widely in smart cities, traffic monitoring, and automatic enforcement systems, and it offers a cost-effective alternative to traditional radar-based methods. </a:t>
            </a:r>
            <a:endParaRPr lang="en-US"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r>
              <a:rPr lang="en-US" sz="8800" kern="100" dirty="0">
                <a:effectLst/>
                <a:latin typeface="Times New Roman" panose="02020603050405020304" pitchFamily="18" charset="0"/>
                <a:ea typeface="Calibri" panose="020F0502020204030204" pitchFamily="34" charset="0"/>
                <a:cs typeface="Times New Roman" panose="02020603050405020304" pitchFamily="18" charset="0"/>
              </a:rPr>
              <a:t>This project aims to implement a vision-based speed estimation system with OpenCV and Python.</a:t>
            </a:r>
            <a:endParaRPr lang="en-US"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r>
              <a:rPr lang="en-US" sz="8800" kern="100" dirty="0">
                <a:effectLst/>
                <a:latin typeface="Times New Roman" panose="02020603050405020304" pitchFamily="18" charset="0"/>
                <a:ea typeface="Calibri" panose="020F0502020204030204" pitchFamily="34" charset="0"/>
                <a:cs typeface="Times New Roman" panose="02020603050405020304" pitchFamily="18" charset="0"/>
              </a:rPr>
              <a:t> The system will identify </a:t>
            </a:r>
            <a:r>
              <a:rPr lang="en-US" altLang="en-US" sz="8800" dirty="0">
                <a:latin typeface="Times New Roman" panose="02020603050405020304" pitchFamily="18" charset="0"/>
                <a:cs typeface="Times New Roman" panose="02020603050405020304" pitchFamily="18" charset="0"/>
                <a:sym typeface="+mn-ea"/>
              </a:rPr>
              <a:t>vehicles</a:t>
            </a:r>
            <a:r>
              <a:rPr lang="en-US" sz="8800" kern="100" dirty="0">
                <a:effectLst/>
                <a:latin typeface="Times New Roman" panose="02020603050405020304" pitchFamily="18" charset="0"/>
                <a:ea typeface="Calibri" panose="020F0502020204030204" pitchFamily="34" charset="0"/>
                <a:cs typeface="Times New Roman" panose="02020603050405020304" pitchFamily="18" charset="0"/>
              </a:rPr>
              <a:t> in video streams, track their movement, and estimate speed based on frame-to-frame movement.</a:t>
            </a:r>
            <a:endParaRPr lang="en-US"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r>
              <a:rPr lang="en-US" sz="8800" kern="100" dirty="0">
                <a:effectLst/>
                <a:latin typeface="Times New Roman" panose="02020603050405020304" pitchFamily="18" charset="0"/>
                <a:ea typeface="Calibri" panose="020F0502020204030204" pitchFamily="34" charset="0"/>
                <a:cs typeface="Times New Roman" panose="02020603050405020304" pitchFamily="18" charset="0"/>
              </a:rPr>
              <a:t> The system can be implemented on highways, city roads, and parking lots for traffic monitoring and analysis.</a:t>
            </a:r>
            <a:endParaRPr lang="en-US" sz="8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buNone/>
            </a:pPr>
            <a:r>
              <a:rPr lang="en-US" sz="96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9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35"/>
            <a:ext cx="10515600" cy="561975"/>
          </a:xfrm>
        </p:spPr>
        <p:txBody>
          <a:bodyPr>
            <a:noAutofit/>
          </a:bodyPr>
          <a:lstStyle/>
          <a:p>
            <a:pPr algn="ctr"/>
            <a:r>
              <a:rPr lang="en-IN" sz="4000" dirty="0">
                <a:latin typeface="Times New Roman" panose="02020603050405020304" pitchFamily="18" charset="0"/>
                <a:cs typeface="Times New Roman" panose="02020603050405020304" pitchFamily="18" charset="0"/>
              </a:rPr>
              <a:t>Existing System</a:t>
            </a:r>
            <a:endParaRPr lang="en-IN"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35" y="562610"/>
            <a:ext cx="12755880" cy="6316345"/>
          </a:xfrm>
        </p:spPr>
        <p:txBody>
          <a:bodyPr>
            <a:noAutofit/>
          </a:bodyPr>
          <a:lstStyle/>
          <a:p>
            <a:pPr>
              <a:lnSpc>
                <a:spcPct val="170000"/>
              </a:lnSpc>
              <a:buFont typeface="Wingdings" panose="05000000000000000000" charset="0"/>
              <a:buChar char="Ø"/>
            </a:pPr>
            <a:r>
              <a:rPr lang="en-US" altLang="en-US" sz="2200" b="1" dirty="0">
                <a:latin typeface="Times New Roman" panose="02020603050405020304" pitchFamily="18" charset="0"/>
                <a:cs typeface="Times New Roman" panose="02020603050405020304" pitchFamily="18" charset="0"/>
              </a:rPr>
              <a:t>Background Subtraction</a:t>
            </a:r>
            <a:endParaRPr lang="en-US" altLang="en-US" sz="2200" b="1" dirty="0">
              <a:latin typeface="Times New Roman" panose="02020603050405020304" pitchFamily="18" charset="0"/>
              <a:cs typeface="Times New Roman" panose="02020603050405020304" pitchFamily="18" charset="0"/>
            </a:endParaRPr>
          </a:p>
          <a:p>
            <a:pPr lvl="1">
              <a:lnSpc>
                <a:spcPct val="100000"/>
              </a:lnSpc>
              <a:buFont typeface="Arial" panose="020B0604020202020204" pitchFamily="34" charset="0"/>
              <a:buChar char="•"/>
            </a:pPr>
            <a:r>
              <a:rPr lang="en-US" altLang="en-US" sz="1925" dirty="0">
                <a:latin typeface="Times New Roman" panose="02020603050405020304" pitchFamily="18" charset="0"/>
                <a:cs typeface="Times New Roman" panose="02020603050405020304" pitchFamily="18" charset="0"/>
              </a:rPr>
              <a:t>Struggles with multiple moving objects and dynamic backgrounds.</a:t>
            </a:r>
            <a:endParaRPr lang="en-US" altLang="en-US" sz="1925" dirty="0">
              <a:latin typeface="Times New Roman" panose="02020603050405020304" pitchFamily="18" charset="0"/>
              <a:cs typeface="Times New Roman" panose="02020603050405020304" pitchFamily="18" charset="0"/>
            </a:endParaRPr>
          </a:p>
          <a:p>
            <a:pPr lvl="1">
              <a:lnSpc>
                <a:spcPct val="100000"/>
              </a:lnSpc>
              <a:buFont typeface="Arial" panose="020B0604020202020204" pitchFamily="34" charset="0"/>
              <a:buChar char="•"/>
            </a:pPr>
            <a:r>
              <a:rPr lang="en-US" altLang="en-US" sz="1925" dirty="0">
                <a:latin typeface="Times New Roman" panose="02020603050405020304" pitchFamily="18" charset="0"/>
                <a:cs typeface="Times New Roman" panose="02020603050405020304" pitchFamily="18" charset="0"/>
              </a:rPr>
              <a:t>Requires constant background model updates for accuracy.</a:t>
            </a:r>
            <a:endParaRPr lang="en-US" altLang="en-US" sz="1925" dirty="0">
              <a:latin typeface="Times New Roman" panose="02020603050405020304" pitchFamily="18" charset="0"/>
              <a:cs typeface="Times New Roman" panose="02020603050405020304" pitchFamily="18" charset="0"/>
            </a:endParaRPr>
          </a:p>
          <a:p>
            <a:pPr lvl="1">
              <a:lnSpc>
                <a:spcPct val="100000"/>
              </a:lnSpc>
              <a:buFont typeface="Arial" panose="020B0604020202020204" pitchFamily="34" charset="0"/>
              <a:buChar char="•"/>
            </a:pPr>
            <a:endParaRPr lang="en-US" altLang="en-US" sz="1925" dirty="0">
              <a:latin typeface="Times New Roman" panose="02020603050405020304" pitchFamily="18" charset="0"/>
              <a:cs typeface="Times New Roman" panose="02020603050405020304" pitchFamily="18" charset="0"/>
            </a:endParaRPr>
          </a:p>
          <a:p>
            <a:pPr>
              <a:lnSpc>
                <a:spcPct val="100000"/>
              </a:lnSpc>
              <a:buFont typeface="Wingdings" panose="05000000000000000000" charset="0"/>
              <a:buChar char="Ø"/>
            </a:pPr>
            <a:r>
              <a:rPr lang="en-US" altLang="en-US" sz="2200" b="1" dirty="0">
                <a:latin typeface="Times New Roman" panose="02020603050405020304" pitchFamily="18" charset="0"/>
                <a:cs typeface="Times New Roman" panose="02020603050405020304" pitchFamily="18" charset="0"/>
              </a:rPr>
              <a:t>Optical Flow</a:t>
            </a:r>
            <a:endParaRPr lang="en-US" altLang="en-US" sz="2200" b="1" dirty="0">
              <a:latin typeface="Times New Roman" panose="02020603050405020304" pitchFamily="18" charset="0"/>
              <a:cs typeface="Times New Roman" panose="02020603050405020304" pitchFamily="18" charset="0"/>
            </a:endParaRPr>
          </a:p>
          <a:p>
            <a:pPr lvl="1">
              <a:lnSpc>
                <a:spcPct val="100000"/>
              </a:lnSpc>
              <a:buFont typeface="Arial" panose="020B0604020202020204" pitchFamily="34" charset="0"/>
              <a:buChar char="•"/>
            </a:pPr>
            <a:r>
              <a:rPr lang="en-US" altLang="en-US" sz="1925" dirty="0">
                <a:latin typeface="Times New Roman" panose="02020603050405020304" pitchFamily="18" charset="0"/>
                <a:cs typeface="Times New Roman" panose="02020603050405020304" pitchFamily="18" charset="0"/>
              </a:rPr>
              <a:t>Computationally intensive, making real-time processing difficult.</a:t>
            </a:r>
            <a:endParaRPr lang="en-US" altLang="en-US" sz="1925" dirty="0">
              <a:latin typeface="Times New Roman" panose="02020603050405020304" pitchFamily="18" charset="0"/>
              <a:cs typeface="Times New Roman" panose="02020603050405020304" pitchFamily="18" charset="0"/>
            </a:endParaRPr>
          </a:p>
          <a:p>
            <a:pPr lvl="1">
              <a:lnSpc>
                <a:spcPct val="100000"/>
              </a:lnSpc>
              <a:buFont typeface="Arial" panose="020B0604020202020204" pitchFamily="34" charset="0"/>
              <a:buChar char="•"/>
            </a:pPr>
            <a:r>
              <a:rPr lang="en-US" altLang="en-US" sz="1925" dirty="0">
                <a:latin typeface="Times New Roman" panose="02020603050405020304" pitchFamily="18" charset="0"/>
                <a:cs typeface="Times New Roman" panose="02020603050405020304" pitchFamily="18" charset="0"/>
              </a:rPr>
              <a:t>Fails with fast-moving vehicles and abrupt motion changes.</a:t>
            </a:r>
            <a:endParaRPr lang="en-US" altLang="en-US" sz="1925" dirty="0">
              <a:latin typeface="Times New Roman" panose="02020603050405020304" pitchFamily="18" charset="0"/>
              <a:cs typeface="Times New Roman" panose="02020603050405020304" pitchFamily="18" charset="0"/>
            </a:endParaRPr>
          </a:p>
          <a:p>
            <a:pPr lvl="1">
              <a:lnSpc>
                <a:spcPct val="100000"/>
              </a:lnSpc>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endParaRPr>
          </a:p>
          <a:p>
            <a:pPr>
              <a:lnSpc>
                <a:spcPct val="100000"/>
              </a:lnSpc>
              <a:buFont typeface="Wingdings" panose="05000000000000000000" charset="0"/>
              <a:buChar char="Ø"/>
            </a:pPr>
            <a:r>
              <a:rPr lang="en-US" altLang="en-US" sz="2200" dirty="0">
                <a:latin typeface="Times New Roman" panose="02020603050405020304" pitchFamily="18" charset="0"/>
                <a:cs typeface="Times New Roman" panose="02020603050405020304" pitchFamily="18" charset="0"/>
              </a:rPr>
              <a:t> </a:t>
            </a:r>
            <a:r>
              <a:rPr lang="en-US" altLang="en-US" sz="2200" b="1" dirty="0">
                <a:latin typeface="Times New Roman" panose="02020603050405020304" pitchFamily="18" charset="0"/>
                <a:cs typeface="Times New Roman" panose="02020603050405020304" pitchFamily="18" charset="0"/>
              </a:rPr>
              <a:t>YOLO-Based Object Detection</a:t>
            </a:r>
            <a:endParaRPr lang="en-US" altLang="en-US" sz="2200" b="1" dirty="0">
              <a:latin typeface="Times New Roman" panose="02020603050405020304" pitchFamily="18" charset="0"/>
              <a:cs typeface="Times New Roman" panose="02020603050405020304" pitchFamily="18" charset="0"/>
            </a:endParaRPr>
          </a:p>
          <a:p>
            <a:pPr lvl="1">
              <a:lnSpc>
                <a:spcPct val="100000"/>
              </a:lnSpc>
              <a:buFont typeface="Arial" panose="020B0604020202020204" pitchFamily="34" charset="0"/>
              <a:buChar char="•"/>
            </a:pPr>
            <a:r>
              <a:rPr lang="en-US" altLang="en-US" sz="1925" dirty="0">
                <a:latin typeface="Times New Roman" panose="02020603050405020304" pitchFamily="18" charset="0"/>
                <a:cs typeface="Times New Roman" panose="02020603050405020304" pitchFamily="18" charset="0"/>
              </a:rPr>
              <a:t>Requires high computational power and GPU for real-time performance.</a:t>
            </a:r>
            <a:endParaRPr lang="en-US" altLang="en-US" sz="1925" dirty="0">
              <a:latin typeface="Times New Roman" panose="02020603050405020304" pitchFamily="18" charset="0"/>
              <a:cs typeface="Times New Roman" panose="02020603050405020304" pitchFamily="18" charset="0"/>
            </a:endParaRPr>
          </a:p>
          <a:p>
            <a:pPr lvl="1">
              <a:lnSpc>
                <a:spcPct val="100000"/>
              </a:lnSpc>
              <a:buFont typeface="Arial" panose="020B0604020202020204" pitchFamily="34" charset="0"/>
              <a:buChar char="•"/>
            </a:pPr>
            <a:r>
              <a:rPr lang="en-US" altLang="en-US" sz="1925" dirty="0">
                <a:latin typeface="Times New Roman" panose="02020603050405020304" pitchFamily="18" charset="0"/>
                <a:cs typeface="Times New Roman" panose="02020603050405020304" pitchFamily="18" charset="0"/>
              </a:rPr>
              <a:t>Needs extensive training data for accurate detection in different conditions.</a:t>
            </a:r>
            <a:endParaRPr lang="en-US" altLang="en-US" sz="1925" dirty="0">
              <a:latin typeface="Times New Roman" panose="02020603050405020304" pitchFamily="18" charset="0"/>
              <a:cs typeface="Times New Roman" panose="02020603050405020304" pitchFamily="18" charset="0"/>
            </a:endParaRPr>
          </a:p>
          <a:p>
            <a:pPr lvl="1">
              <a:lnSpc>
                <a:spcPct val="100000"/>
              </a:lnSpc>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endParaRPr>
          </a:p>
          <a:p>
            <a:pPr>
              <a:lnSpc>
                <a:spcPct val="100000"/>
              </a:lnSpc>
              <a:buFont typeface="Wingdings" panose="05000000000000000000" charset="0"/>
              <a:buChar char="Ø"/>
            </a:pPr>
            <a:r>
              <a:rPr lang="en-US" altLang="en-US" sz="2200" b="1" dirty="0">
                <a:latin typeface="Times New Roman" panose="02020603050405020304" pitchFamily="18" charset="0"/>
                <a:cs typeface="Times New Roman" panose="02020603050405020304" pitchFamily="18" charset="0"/>
              </a:rPr>
              <a:t>Line-Crossing Method</a:t>
            </a:r>
            <a:endParaRPr lang="en-US" altLang="en-US" sz="2200" b="1" dirty="0">
              <a:latin typeface="Times New Roman" panose="02020603050405020304" pitchFamily="18" charset="0"/>
              <a:cs typeface="Times New Roman" panose="02020603050405020304" pitchFamily="18" charset="0"/>
            </a:endParaRPr>
          </a:p>
          <a:p>
            <a:pPr lvl="1">
              <a:lnSpc>
                <a:spcPct val="100000"/>
              </a:lnSpc>
              <a:buFont typeface="Arial" panose="020B0604020202020204" pitchFamily="34" charset="0"/>
              <a:buChar char="•"/>
            </a:pPr>
            <a:r>
              <a:rPr lang="en-US" altLang="en-US" sz="1925" dirty="0">
                <a:latin typeface="Times New Roman" panose="02020603050405020304" pitchFamily="18" charset="0"/>
                <a:cs typeface="Times New Roman" panose="02020603050405020304" pitchFamily="18" charset="0"/>
              </a:rPr>
              <a:t>Limited to predefined areas with fixed camera placement.</a:t>
            </a:r>
            <a:endParaRPr lang="en-US" altLang="en-US" sz="1925" dirty="0">
              <a:latin typeface="Times New Roman" panose="02020603050405020304" pitchFamily="18" charset="0"/>
              <a:cs typeface="Times New Roman" panose="02020603050405020304" pitchFamily="18" charset="0"/>
            </a:endParaRPr>
          </a:p>
          <a:p>
            <a:pPr lvl="1">
              <a:lnSpc>
                <a:spcPct val="100000"/>
              </a:lnSpc>
              <a:buFont typeface="Arial" panose="020B0604020202020204" pitchFamily="34" charset="0"/>
              <a:buChar char="•"/>
            </a:pPr>
            <a:r>
              <a:rPr lang="en-US" altLang="en-US" sz="1925" dirty="0">
                <a:latin typeface="Times New Roman" panose="02020603050405020304" pitchFamily="18" charset="0"/>
                <a:cs typeface="Times New Roman" panose="02020603050405020304" pitchFamily="18" charset="0"/>
              </a:rPr>
              <a:t>Cannot track vehicles changing lanes or moving at angles.</a:t>
            </a:r>
            <a:endParaRPr lang="en-US" altLang="en-US" sz="1925" dirty="0">
              <a:latin typeface="Times New Roman" panose="02020603050405020304" pitchFamily="18" charset="0"/>
              <a:cs typeface="Times New Roman" panose="02020603050405020304" pitchFamily="18" charset="0"/>
            </a:endParaRPr>
          </a:p>
          <a:p>
            <a:pPr lvl="1">
              <a:lnSpc>
                <a:spcPct val="100000"/>
              </a:lnSpc>
              <a:buFont typeface="Arial" panose="020B0604020202020204" pitchFamily="34" charset="0"/>
              <a:buChar char="•"/>
            </a:pPr>
            <a:endParaRPr lang="en-US" altLang="en-US" sz="1925" dirty="0">
              <a:latin typeface="Times New Roman" panose="02020603050405020304" pitchFamily="18" charset="0"/>
              <a:cs typeface="Times New Roman" panose="02020603050405020304" pitchFamily="18" charset="0"/>
            </a:endParaRPr>
          </a:p>
          <a:p>
            <a:pPr>
              <a:lnSpc>
                <a:spcPct val="100000"/>
              </a:lnSpc>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4305"/>
            <a:ext cx="10515600" cy="840740"/>
          </a:xfrm>
        </p:spPr>
        <p:txBody>
          <a:bodyPr>
            <a:normAutofit fontScale="90000"/>
          </a:bodyPr>
          <a:lstStyle/>
          <a:p>
            <a:pPr algn="ctr"/>
            <a:r>
              <a:rPr lang="en-IN" sz="4000" dirty="0">
                <a:latin typeface="Times New Roman" panose="02020603050405020304" pitchFamily="18" charset="0"/>
                <a:cs typeface="Times New Roman" panose="02020603050405020304" pitchFamily="18" charset="0"/>
              </a:rPr>
              <a:t>Proposed System</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18490"/>
            <a:ext cx="12192000" cy="6239510"/>
          </a:xfrm>
        </p:spPr>
        <p:txBody>
          <a:bodyPr>
            <a:noAutofit/>
          </a:bodyPr>
          <a:lstStyle/>
          <a:p>
            <a:pPr>
              <a:lnSpc>
                <a:spcPct val="15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Real-Time Vehicle Detection</a:t>
            </a:r>
            <a:r>
              <a:rPr lang="en-US" sz="2400" b="1" dirty="0">
                <a:latin typeface="Times New Roman" panose="02020603050405020304" pitchFamily="18" charset="0"/>
                <a:cs typeface="Times New Roman" panose="02020603050405020304" pitchFamily="18" charset="0"/>
              </a:rPr>
              <a:t>.</a:t>
            </a:r>
            <a:r>
              <a:rPr lang="en-US" sz="2200" b="1" dirty="0">
                <a:latin typeface="Times New Roman" panose="02020603050405020304" pitchFamily="18" charset="0"/>
                <a:cs typeface="Times New Roman" panose="02020603050405020304" pitchFamily="18" charset="0"/>
              </a:rPr>
              <a:t> - </a:t>
            </a:r>
            <a:r>
              <a:rPr lang="en-US" altLang="en-US" sz="2200" dirty="0">
                <a:latin typeface="Times New Roman" panose="02020603050405020304" pitchFamily="18" charset="0"/>
                <a:cs typeface="Times New Roman" panose="02020603050405020304" pitchFamily="18" charset="0"/>
              </a:rPr>
              <a:t>Uses *YOLOv8* to detect vehicles accurately in both live and recorded video feeds.  </a:t>
            </a:r>
            <a:endParaRPr lang="en-US" altLang="en-US" sz="22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Efficient Tracking Mechanism -  </a:t>
            </a:r>
            <a:r>
              <a:rPr lang="en-US" altLang="en-US" sz="2200" dirty="0">
                <a:latin typeface="Times New Roman" panose="02020603050405020304" pitchFamily="18" charset="0"/>
                <a:cs typeface="Times New Roman" panose="02020603050405020304" pitchFamily="18" charset="0"/>
              </a:rPr>
              <a:t>Ensures reliable tracking even when vehicles overlap or change directions. </a:t>
            </a:r>
            <a:endParaRPr lang="en-US" altLang="en-US" sz="22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Speed Calculation Using Pixel-to-Real Conversion - </a:t>
            </a:r>
            <a:r>
              <a:rPr lang="en-US" altLang="en-US" sz="2200" dirty="0">
                <a:latin typeface="Times New Roman" panose="02020603050405020304" pitchFamily="18" charset="0"/>
                <a:cs typeface="Times New Roman" panose="02020603050405020304" pitchFamily="18" charset="0"/>
              </a:rPr>
              <a:t>Uses the formula *Speed = Distance / Time* to estimate real-world speed. </a:t>
            </a:r>
            <a:endParaRPr lang="en-US" altLang="en-US" sz="22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No Database Requirement  -   </a:t>
            </a:r>
            <a:r>
              <a:rPr lang="en-US" altLang="en-US" sz="2200" dirty="0">
                <a:latin typeface="Times New Roman" panose="02020603050405020304" pitchFamily="18" charset="0"/>
                <a:cs typeface="Times New Roman" panose="02020603050405020304" pitchFamily="18" charset="0"/>
              </a:rPr>
              <a:t>Operates dynamically, processing data in real-time without storing it.</a:t>
            </a:r>
            <a:endParaRPr lang="en-US" altLang="en-US" sz="22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User-Friendly Overlay Display - </a:t>
            </a:r>
            <a:r>
              <a:rPr lang="en-US" altLang="en-US" sz="2200" dirty="0">
                <a:latin typeface="Times New Roman" panose="02020603050405020304" pitchFamily="18" charset="0"/>
                <a:cs typeface="Times New Roman" panose="02020603050405020304" pitchFamily="18" charset="0"/>
              </a:rPr>
              <a:t> Displays real-time speed labels on detected vehicles for clear visualization.</a:t>
            </a:r>
            <a:endParaRPr lang="en-US" altLang="en-US" sz="22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Scalability &amp; Low Computational Cost -  </a:t>
            </a:r>
            <a:r>
              <a:rPr lang="en-US" altLang="en-US" sz="2200" dirty="0">
                <a:latin typeface="Times New Roman" panose="02020603050405020304" pitchFamily="18" charset="0"/>
                <a:cs typeface="Times New Roman" panose="02020603050405020304" pitchFamily="18" charset="0"/>
              </a:rPr>
              <a:t>Maintains smooth performance even when tracking multiple vehicles simultaneously.  </a:t>
            </a:r>
            <a:endParaRPr lang="en-US" altLang="en-US" sz="22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endParaRPr lang="en-US" alt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61925"/>
            <a:ext cx="10131425" cy="631190"/>
          </a:xfrm>
        </p:spPr>
        <p:txBody>
          <a:bodyPr/>
          <a:lstStyle/>
          <a:p>
            <a:pPr algn="ctr"/>
            <a:r>
              <a:rPr lang="en-IN" dirty="0"/>
              <a:t> </a:t>
            </a:r>
            <a:r>
              <a:rPr lang="en-IN" sz="4000" dirty="0">
                <a:latin typeface="Times New Roman" panose="02020603050405020304" pitchFamily="18" charset="0"/>
                <a:cs typeface="Times New Roman" panose="02020603050405020304" pitchFamily="18" charset="0"/>
              </a:rPr>
              <a:t>System Architecture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1342663"/>
            <a:ext cx="12192000" cy="5515337"/>
          </a:xfrm>
        </p:spPr>
        <p:txBody>
          <a:bodyPr/>
          <a:lstStyle/>
          <a:p>
            <a:endParaRPr lang="en-US" altLang="en-IN" dirty="0"/>
          </a:p>
        </p:txBody>
      </p:sp>
      <p:pic>
        <p:nvPicPr>
          <p:cNvPr id="4" name="Picture 1"/>
          <p:cNvPicPr>
            <a:picLocks noChangeAspect="1"/>
          </p:cNvPicPr>
          <p:nvPr/>
        </p:nvPicPr>
        <p:blipFill>
          <a:blip r:embed="rId1"/>
          <a:srcRect t="10158"/>
          <a:stretch>
            <a:fillRect/>
          </a:stretch>
        </p:blipFill>
        <p:spPr>
          <a:xfrm>
            <a:off x="2605405" y="1342390"/>
            <a:ext cx="6339840" cy="5410835"/>
          </a:xfrm>
          <a:prstGeom prst="rect">
            <a:avLst/>
          </a:prstGeom>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0"/>
            <a:ext cx="10131425" cy="1307939"/>
          </a:xfrm>
        </p:spPr>
        <p:txBody>
          <a:bodyPr/>
          <a:lstStyle/>
          <a:p>
            <a:pPr algn="ctr"/>
            <a:r>
              <a:rPr lang="en-IN" dirty="0"/>
              <a:t>   </a:t>
            </a:r>
            <a:r>
              <a:rPr lang="en-IN" sz="4000" dirty="0">
                <a:latin typeface="Times New Roman" panose="02020603050405020304" pitchFamily="18" charset="0"/>
                <a:cs typeface="Times New Roman" panose="02020603050405020304" pitchFamily="18" charset="0"/>
              </a:rPr>
              <a:t>FLOWCHART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1088020"/>
            <a:ext cx="12192000" cy="5769980"/>
          </a:xfrm>
        </p:spPr>
        <p:txBody>
          <a:bodyPr/>
          <a:lstStyle/>
          <a:p>
            <a:endParaRPr lang="en-IN" dirty="0"/>
          </a:p>
        </p:txBody>
      </p:sp>
      <p:pic>
        <p:nvPicPr>
          <p:cNvPr id="2097833166" name="Picture 18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210050" y="2005965"/>
            <a:ext cx="4068445" cy="42240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4000"/>
              <a:t>Result</a:t>
            </a:r>
            <a:endParaRPr lang="en-US" sz="4000"/>
          </a:p>
        </p:txBody>
      </p:sp>
      <p:sp>
        <p:nvSpPr>
          <p:cNvPr id="3" name="Content Placeholder 2"/>
          <p:cNvSpPr>
            <a:spLocks noGrp="1"/>
          </p:cNvSpPr>
          <p:nvPr>
            <p:ph idx="1"/>
          </p:nvPr>
        </p:nvSpPr>
        <p:spPr>
          <a:xfrm>
            <a:off x="448310" y="773430"/>
            <a:ext cx="10972800" cy="6084570"/>
          </a:xfrm>
        </p:spPr>
        <p:txBody>
          <a:bodyPr/>
          <a:p>
            <a:endParaRPr lang="en-US"/>
          </a:p>
          <a:p>
            <a:endParaRPr lang="en-US"/>
          </a:p>
          <a:p>
            <a:endParaRPr lang="en-US"/>
          </a:p>
          <a:p>
            <a:endParaRPr lang="en-US"/>
          </a:p>
          <a:p>
            <a:endParaRPr lang="en-US"/>
          </a:p>
          <a:p>
            <a:endParaRPr lang="en-US" altLang="en-US" sz="1400">
              <a:latin typeface="Times New Roman" panose="02020603050405020304" pitchFamily="18" charset="0"/>
              <a:cs typeface="Times New Roman" panose="02020603050405020304" pitchFamily="18" charset="0"/>
              <a:sym typeface="+mn-ea"/>
            </a:endParaRPr>
          </a:p>
          <a:p>
            <a:pPr algn="ctr"/>
            <a:endParaRPr lang="en-US" altLang="en-US" sz="1400">
              <a:latin typeface="Times New Roman" panose="02020603050405020304" pitchFamily="18" charset="0"/>
              <a:cs typeface="Times New Roman" panose="02020603050405020304" pitchFamily="18" charset="0"/>
              <a:sym typeface="+mn-ea"/>
            </a:endParaRPr>
          </a:p>
          <a:p>
            <a:pPr marL="0" indent="0" algn="ctr">
              <a:buNone/>
            </a:pPr>
            <a:endParaRPr lang="en-US" altLang="en-US" sz="1400">
              <a:latin typeface="Times New Roman" panose="02020603050405020304" pitchFamily="18" charset="0"/>
              <a:cs typeface="Times New Roman" panose="02020603050405020304" pitchFamily="18" charset="0"/>
              <a:sym typeface="+mn-ea"/>
            </a:endParaRPr>
          </a:p>
          <a:p>
            <a:pPr marL="0" indent="0" algn="ctr">
              <a:buNone/>
            </a:pPr>
            <a:endParaRPr lang="en-US" altLang="en-US" sz="1400">
              <a:latin typeface="Times New Roman" panose="02020603050405020304" pitchFamily="18" charset="0"/>
              <a:cs typeface="Times New Roman" panose="02020603050405020304" pitchFamily="18" charset="0"/>
              <a:sym typeface="+mn-ea"/>
            </a:endParaRPr>
          </a:p>
          <a:p>
            <a:pPr marL="0" indent="0" algn="ctr">
              <a:buNone/>
            </a:pPr>
            <a:endParaRPr lang="en-US" altLang="en-US" sz="1400">
              <a:latin typeface="Times New Roman" panose="02020603050405020304" pitchFamily="18" charset="0"/>
              <a:cs typeface="Times New Roman" panose="02020603050405020304" pitchFamily="18" charset="0"/>
              <a:sym typeface="+mn-ea"/>
            </a:endParaRPr>
          </a:p>
          <a:p>
            <a:pPr marL="0" indent="0" algn="ctr">
              <a:buNone/>
            </a:pPr>
            <a:endParaRPr lang="en-US" altLang="en-US" sz="1400">
              <a:latin typeface="Times New Roman" panose="02020603050405020304" pitchFamily="18" charset="0"/>
              <a:cs typeface="Times New Roman" panose="02020603050405020304" pitchFamily="18" charset="0"/>
              <a:sym typeface="+mn-ea"/>
            </a:endParaRPr>
          </a:p>
          <a:p>
            <a:pPr marL="0" indent="0" algn="ctr">
              <a:buNone/>
            </a:pPr>
            <a:endParaRPr lang="en-US" altLang="en-US" sz="1400">
              <a:latin typeface="Times New Roman" panose="02020603050405020304" pitchFamily="18" charset="0"/>
              <a:cs typeface="Times New Roman" panose="02020603050405020304" pitchFamily="18" charset="0"/>
              <a:sym typeface="+mn-ea"/>
            </a:endParaRPr>
          </a:p>
          <a:p>
            <a:pPr marL="0" indent="0" algn="ctr">
              <a:buNone/>
            </a:pPr>
            <a:endParaRPr lang="en-US" altLang="en-US" sz="1400">
              <a:latin typeface="Times New Roman" panose="02020603050405020304" pitchFamily="18" charset="0"/>
              <a:cs typeface="Times New Roman" panose="02020603050405020304" pitchFamily="18" charset="0"/>
              <a:sym typeface="+mn-ea"/>
            </a:endParaRPr>
          </a:p>
          <a:p>
            <a:pPr marL="0" indent="0" algn="ctr">
              <a:buNone/>
            </a:pPr>
            <a:r>
              <a:rPr lang="en-US" altLang="en-US" sz="1400">
                <a:latin typeface="Times New Roman" panose="02020603050405020304" pitchFamily="18" charset="0"/>
                <a:cs typeface="Times New Roman" panose="02020603050405020304" pitchFamily="18" charset="0"/>
                <a:sym typeface="+mn-ea"/>
              </a:rPr>
              <a:t>Fig.Object Detection</a:t>
            </a:r>
            <a:endParaRPr lang="en-US" altLang="en-US" sz="1400">
              <a:latin typeface="Times New Roman" panose="02020603050405020304" pitchFamily="18" charset="0"/>
              <a:cs typeface="Times New Roman" panose="02020603050405020304" pitchFamily="18" charset="0"/>
            </a:endParaRPr>
          </a:p>
          <a:p>
            <a:pPr marL="0" indent="0" algn="ctr">
              <a:buNone/>
            </a:pPr>
            <a:endParaRPr lang="en-US" altLang="en-US" sz="1400">
              <a:latin typeface="Times New Roman" panose="02020603050405020304" pitchFamily="18" charset="0"/>
              <a:cs typeface="Times New Roman" panose="02020603050405020304" pitchFamily="18" charset="0"/>
            </a:endParaRPr>
          </a:p>
        </p:txBody>
      </p:sp>
      <p:pic>
        <p:nvPicPr>
          <p:cNvPr id="4" name="Picture 1" descr="Screenshot (343)"/>
          <p:cNvPicPr>
            <a:picLocks noChangeAspect="1"/>
          </p:cNvPicPr>
          <p:nvPr/>
        </p:nvPicPr>
        <p:blipFill>
          <a:blip r:embed="rId1"/>
          <a:stretch>
            <a:fillRect/>
          </a:stretch>
        </p:blipFill>
        <p:spPr>
          <a:xfrm>
            <a:off x="1648460" y="915035"/>
            <a:ext cx="8140065" cy="45135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ltLang="en-US"/>
          </a:p>
          <a:p>
            <a:pPr marL="0" indent="0" algn="ctr">
              <a:buNone/>
            </a:pPr>
            <a:endParaRPr lang="en-US" altLang="en-US">
              <a:latin typeface="Times New Roman" panose="02020603050405020304" pitchFamily="18" charset="0"/>
              <a:cs typeface="Times New Roman" panose="02020603050405020304" pitchFamily="18" charset="0"/>
            </a:endParaRPr>
          </a:p>
          <a:p>
            <a:pPr marL="0" indent="0" algn="ctr">
              <a:buNone/>
            </a:pPr>
            <a:endParaRPr lang="en-US" altLang="en-US">
              <a:latin typeface="Times New Roman" panose="02020603050405020304" pitchFamily="18" charset="0"/>
              <a:cs typeface="Times New Roman" panose="02020603050405020304" pitchFamily="18" charset="0"/>
            </a:endParaRPr>
          </a:p>
          <a:p>
            <a:pPr marL="0" indent="0" algn="ctr">
              <a:buNone/>
            </a:pPr>
            <a:endParaRPr lang="en-US" altLang="en-US">
              <a:latin typeface="Times New Roman" panose="02020603050405020304" pitchFamily="18" charset="0"/>
              <a:cs typeface="Times New Roman" panose="02020603050405020304" pitchFamily="18" charset="0"/>
            </a:endParaRPr>
          </a:p>
          <a:p>
            <a:pPr marL="0" indent="0" algn="ctr">
              <a:buNone/>
            </a:pPr>
            <a:endParaRPr lang="en-US" altLang="en-US">
              <a:latin typeface="Times New Roman" panose="02020603050405020304" pitchFamily="18" charset="0"/>
              <a:cs typeface="Times New Roman" panose="02020603050405020304" pitchFamily="18" charset="0"/>
            </a:endParaRPr>
          </a:p>
          <a:p>
            <a:pPr marL="0" indent="0" algn="ctr">
              <a:buNone/>
            </a:pPr>
            <a:endParaRPr lang="en-US" altLang="en-US">
              <a:latin typeface="Times New Roman" panose="02020603050405020304" pitchFamily="18" charset="0"/>
              <a:cs typeface="Times New Roman" panose="02020603050405020304" pitchFamily="18" charset="0"/>
            </a:endParaRPr>
          </a:p>
          <a:p>
            <a:pPr marL="0" indent="0" algn="ctr">
              <a:buNone/>
            </a:pPr>
            <a:endParaRPr lang="en-US" altLang="en-US">
              <a:latin typeface="Times New Roman" panose="02020603050405020304" pitchFamily="18" charset="0"/>
              <a:cs typeface="Times New Roman" panose="02020603050405020304" pitchFamily="18" charset="0"/>
            </a:endParaRPr>
          </a:p>
          <a:p>
            <a:pPr marL="0" indent="0" algn="ctr">
              <a:buNone/>
            </a:pPr>
            <a:r>
              <a:rPr lang="en-US" altLang="en-US">
                <a:latin typeface="Times New Roman" panose="02020603050405020304" pitchFamily="18" charset="0"/>
                <a:cs typeface="Times New Roman" panose="02020603050405020304" pitchFamily="18" charset="0"/>
                <a:sym typeface="+mn-ea"/>
              </a:rPr>
              <a:t>Fig.calculate the speed</a:t>
            </a:r>
            <a:endParaRPr lang="en-US" altLang="en-US">
              <a:latin typeface="Times New Roman" panose="02020603050405020304" pitchFamily="18" charset="0"/>
              <a:cs typeface="Times New Roman" panose="02020603050405020304" pitchFamily="18" charset="0"/>
            </a:endParaRPr>
          </a:p>
          <a:p>
            <a:pPr marL="0" indent="0" algn="ctr">
              <a:buNone/>
            </a:pPr>
            <a:endParaRPr lang="en-US" altLang="en-US">
              <a:latin typeface="Times New Roman" panose="02020603050405020304" pitchFamily="18" charset="0"/>
              <a:cs typeface="Times New Roman" panose="02020603050405020304" pitchFamily="18" charset="0"/>
            </a:endParaRPr>
          </a:p>
        </p:txBody>
      </p:sp>
      <p:pic>
        <p:nvPicPr>
          <p:cNvPr id="4" name="Picture 4" descr="Screenshot (349)"/>
          <p:cNvPicPr>
            <a:picLocks noChangeAspect="1"/>
          </p:cNvPicPr>
          <p:nvPr/>
        </p:nvPicPr>
        <p:blipFill>
          <a:blip r:embed="rId1"/>
          <a:stretch>
            <a:fillRect/>
          </a:stretch>
        </p:blipFill>
        <p:spPr>
          <a:xfrm>
            <a:off x="1568450" y="1025525"/>
            <a:ext cx="8185150" cy="41306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a:p>
            <a:endParaRPr lang="en-US"/>
          </a:p>
          <a:p>
            <a:endParaRPr lang="en-US"/>
          </a:p>
          <a:p>
            <a:endParaRPr lang="en-US"/>
          </a:p>
          <a:p>
            <a:endParaRPr lang="en-US"/>
          </a:p>
          <a:p>
            <a:endParaRPr lang="en-US"/>
          </a:p>
          <a:p>
            <a:endParaRPr lang="en-US" altLang="en-US" sz="1600">
              <a:latin typeface="Times New Roman" panose="02020603050405020304" pitchFamily="18" charset="0"/>
              <a:cs typeface="Times New Roman" panose="02020603050405020304" pitchFamily="18" charset="0"/>
            </a:endParaRPr>
          </a:p>
          <a:p>
            <a:pPr marL="0" indent="0" algn="ctr">
              <a:buNone/>
            </a:pPr>
            <a:r>
              <a:rPr lang="en-US" altLang="en-US" sz="1600">
                <a:latin typeface="Times New Roman" panose="02020603050405020304" pitchFamily="18" charset="0"/>
                <a:cs typeface="Times New Roman" panose="02020603050405020304" pitchFamily="18" charset="0"/>
              </a:rPr>
              <a:t>Fig.Display the speed</a:t>
            </a:r>
            <a:endParaRPr lang="en-US" altLang="en-US" sz="1600">
              <a:latin typeface="Times New Roman" panose="02020603050405020304" pitchFamily="18" charset="0"/>
              <a:cs typeface="Times New Roman" panose="02020603050405020304" pitchFamily="18" charset="0"/>
            </a:endParaRPr>
          </a:p>
        </p:txBody>
      </p:sp>
      <p:pic>
        <p:nvPicPr>
          <p:cNvPr id="7" name="Picture 7" descr="Screenshot (362)"/>
          <p:cNvPicPr>
            <a:picLocks noChangeAspect="1"/>
          </p:cNvPicPr>
          <p:nvPr/>
        </p:nvPicPr>
        <p:blipFill>
          <a:blip r:embed="rId1"/>
          <a:stretch>
            <a:fillRect/>
          </a:stretch>
        </p:blipFill>
        <p:spPr>
          <a:xfrm>
            <a:off x="2196465" y="773430"/>
            <a:ext cx="7597775" cy="40589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a:p>
            <a:endParaRPr lang="en-US"/>
          </a:p>
          <a:p>
            <a:endParaRPr lang="en-US"/>
          </a:p>
          <a:p>
            <a:endParaRPr lang="en-US"/>
          </a:p>
          <a:p>
            <a:endParaRPr lang="en-US"/>
          </a:p>
          <a:p>
            <a:endParaRPr lang="en-US"/>
          </a:p>
          <a:p>
            <a:endParaRPr lang="en-US"/>
          </a:p>
          <a:p>
            <a:pPr marL="0" indent="0" algn="ctr">
              <a:buNone/>
            </a:pPr>
            <a:r>
              <a:rPr lang="en-US" altLang="en-US" sz="1600">
                <a:latin typeface="Times New Roman" panose="02020603050405020304" pitchFamily="18" charset="0"/>
                <a:cs typeface="Times New Roman" panose="02020603050405020304" pitchFamily="18" charset="0"/>
              </a:rPr>
              <a:t> 7.3.6.Store Run-time </a:t>
            </a:r>
            <a:endParaRPr lang="en-US" altLang="en-US" sz="1600">
              <a:latin typeface="Times New Roman" panose="02020603050405020304" pitchFamily="18" charset="0"/>
              <a:cs typeface="Times New Roman" panose="02020603050405020304" pitchFamily="18" charset="0"/>
            </a:endParaRPr>
          </a:p>
        </p:txBody>
      </p:sp>
      <p:pic>
        <p:nvPicPr>
          <p:cNvPr id="9" name="Picture 9" descr="Screenshot (380)"/>
          <p:cNvPicPr>
            <a:picLocks noChangeAspect="1"/>
          </p:cNvPicPr>
          <p:nvPr/>
        </p:nvPicPr>
        <p:blipFill>
          <a:blip r:embed="rId1"/>
          <a:stretch>
            <a:fillRect/>
          </a:stretch>
        </p:blipFill>
        <p:spPr>
          <a:xfrm>
            <a:off x="2274570" y="1174750"/>
            <a:ext cx="7178040" cy="37318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a:t>METHODOLOGY</a:t>
            </a:r>
            <a:endParaRPr lang="en-US" altLang="en-US"/>
          </a:p>
        </p:txBody>
      </p:sp>
      <p:sp>
        <p:nvSpPr>
          <p:cNvPr id="3" name="Content Placeholder 2"/>
          <p:cNvSpPr>
            <a:spLocks noGrp="1"/>
          </p:cNvSpPr>
          <p:nvPr>
            <p:ph idx="1"/>
          </p:nvPr>
        </p:nvSpPr>
        <p:spPr>
          <a:xfrm>
            <a:off x="0" y="772795"/>
            <a:ext cx="11582400" cy="6085205"/>
          </a:xfrm>
        </p:spPr>
        <p:txBody>
          <a:bodyPr/>
          <a:p>
            <a:pPr>
              <a:buFont typeface="Wingdings" panose="05000000000000000000" charset="0"/>
              <a:buChar char="Ø"/>
            </a:pPr>
            <a:r>
              <a:rPr lang="en-US" altLang="en-US" sz="2200" b="1"/>
              <a:t>Video Input &amp; Preprocessing</a:t>
            </a:r>
            <a:endParaRPr lang="en-US" altLang="en-US" sz="2200" b="1"/>
          </a:p>
          <a:p>
            <a:r>
              <a:rPr lang="en-US" altLang="en-US" sz="2200">
                <a:latin typeface="Times New Roman" panose="02020603050405020304" pitchFamily="18" charset="0"/>
                <a:cs typeface="Times New Roman" panose="02020603050405020304" pitchFamily="18" charset="0"/>
              </a:rPr>
              <a:t>Capture video from CCTV, dashcams, or pre-recorded footage.</a:t>
            </a:r>
            <a:endParaRPr lang="en-US" altLang="en-US" sz="2200">
              <a:latin typeface="Times New Roman" panose="02020603050405020304" pitchFamily="18" charset="0"/>
              <a:cs typeface="Times New Roman" panose="02020603050405020304" pitchFamily="18" charset="0"/>
            </a:endParaRPr>
          </a:p>
          <a:p>
            <a:r>
              <a:rPr lang="en-US" altLang="en-US" sz="2200">
                <a:latin typeface="Times New Roman" panose="02020603050405020304" pitchFamily="18" charset="0"/>
                <a:cs typeface="Times New Roman" panose="02020603050405020304" pitchFamily="18" charset="0"/>
              </a:rPr>
              <a:t>Resize and enhance frames for better processing.</a:t>
            </a:r>
            <a:endParaRPr lang="en-US" altLang="en-US" sz="2200">
              <a:latin typeface="Times New Roman" panose="02020603050405020304" pitchFamily="18" charset="0"/>
              <a:cs typeface="Times New Roman" panose="02020603050405020304" pitchFamily="18" charset="0"/>
            </a:endParaRPr>
          </a:p>
          <a:p>
            <a:endParaRPr lang="en-US" altLang="en-US" sz="2200"/>
          </a:p>
          <a:p>
            <a:pPr>
              <a:buFont typeface="Wingdings" panose="05000000000000000000" charset="0"/>
              <a:buChar char="Ø"/>
            </a:pPr>
            <a:r>
              <a:rPr lang="en-US" altLang="en-US" sz="2200" b="1">
                <a:latin typeface="Times New Roman" panose="02020603050405020304" pitchFamily="18" charset="0"/>
                <a:cs typeface="Times New Roman" panose="02020603050405020304" pitchFamily="18" charset="0"/>
              </a:rPr>
              <a:t>Vehicle Detection</a:t>
            </a:r>
            <a:endParaRPr lang="en-US" altLang="en-US" sz="2200"/>
          </a:p>
          <a:p>
            <a:r>
              <a:rPr lang="en-US" altLang="en-US" sz="2200"/>
              <a:t>Use YOLO (You Only Look Once) for real-time object detection.</a:t>
            </a:r>
            <a:endParaRPr lang="en-US" altLang="en-US" sz="2200"/>
          </a:p>
          <a:p>
            <a:r>
              <a:rPr lang="en-US" altLang="en-US" sz="2200"/>
              <a:t>Identify </a:t>
            </a:r>
            <a:r>
              <a:rPr lang="en-US" altLang="en-US" sz="2200" dirty="0">
                <a:latin typeface="Times New Roman" panose="02020603050405020304" pitchFamily="18" charset="0"/>
                <a:cs typeface="Times New Roman" panose="02020603050405020304" pitchFamily="18" charset="0"/>
                <a:sym typeface="+mn-ea"/>
              </a:rPr>
              <a:t>vehicles</a:t>
            </a:r>
            <a:r>
              <a:rPr lang="en-US" altLang="en-US" sz="2200"/>
              <a:t> in each frame.</a:t>
            </a:r>
            <a:endParaRPr lang="en-US" altLang="en-US" sz="2200"/>
          </a:p>
          <a:p>
            <a:endParaRPr lang="en-US" altLang="en-US" sz="2200"/>
          </a:p>
          <a:p>
            <a:pPr>
              <a:buFont typeface="Wingdings" panose="05000000000000000000" charset="0"/>
              <a:buChar char="Ø"/>
            </a:pPr>
            <a:r>
              <a:rPr lang="en-US" altLang="en-US" sz="2200" b="1">
                <a:latin typeface="Times New Roman" panose="02020603050405020304" pitchFamily="18" charset="0"/>
                <a:cs typeface="Times New Roman" panose="02020603050405020304" pitchFamily="18" charset="0"/>
              </a:rPr>
              <a:t>Object Tracking</a:t>
            </a:r>
            <a:endParaRPr lang="en-US" altLang="en-US" sz="2200">
              <a:latin typeface="Times New Roman" panose="02020603050405020304" pitchFamily="18" charset="0"/>
              <a:cs typeface="Times New Roman" panose="02020603050405020304" pitchFamily="18" charset="0"/>
            </a:endParaRPr>
          </a:p>
          <a:p>
            <a:r>
              <a:rPr lang="en-US" altLang="en-US" sz="2200"/>
              <a:t>Assign unique IDs to detected vehicles.</a:t>
            </a:r>
            <a:endParaRPr lang="en-US" altLang="en-US" sz="2200"/>
          </a:p>
          <a:p>
            <a:r>
              <a:rPr lang="en-US" altLang="en-US" sz="2200"/>
              <a:t>Track vehicle movement across frames using a similar algorithms.</a:t>
            </a:r>
            <a:endParaRPr lang="en-US" altLang="en-US" sz="2200"/>
          </a:p>
          <a:p>
            <a:endParaRPr lang="en-US" altLang="en-US" sz="2200"/>
          </a:p>
          <a:p>
            <a:pPr>
              <a:buFont typeface="Wingdings" panose="05000000000000000000" charset="0"/>
              <a:buChar char="Ø"/>
            </a:pPr>
            <a:r>
              <a:rPr lang="en-US" altLang="en-US" sz="2200" b="1">
                <a:latin typeface="Times New Roman" panose="02020603050405020304" pitchFamily="18" charset="0"/>
                <a:cs typeface="Times New Roman" panose="02020603050405020304" pitchFamily="18" charset="0"/>
              </a:rPr>
              <a:t>Speed Estimation</a:t>
            </a:r>
            <a:endParaRPr lang="en-US" altLang="en-US" sz="2200" b="1">
              <a:latin typeface="Times New Roman" panose="02020603050405020304" pitchFamily="18" charset="0"/>
              <a:cs typeface="Times New Roman" panose="02020603050405020304" pitchFamily="18" charset="0"/>
            </a:endParaRPr>
          </a:p>
          <a:p>
            <a:r>
              <a:rPr lang="en-US" altLang="en-US" sz="2200"/>
              <a:t>Measure vehicle displacement over frames using pixel-to-distance conversion.</a:t>
            </a:r>
            <a:endParaRPr lang="en-US" altLang="en-US" sz="2200"/>
          </a:p>
          <a:p>
            <a:r>
              <a:rPr lang="en-US" altLang="en-US" sz="2200"/>
              <a:t>Apply time-based calculations to estimate speed.</a:t>
            </a:r>
            <a:endParaRPr lang="en-US" altLang="en-US" sz="2200"/>
          </a:p>
          <a:p>
            <a:pPr marL="0" indent="0">
              <a:buNone/>
            </a:pPr>
            <a:endParaRPr lang="en-US" altLang="en-US" sz="2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678425"/>
          </a:xfrm>
        </p:spPr>
        <p:txBody>
          <a:bodyPr>
            <a:normAutofit fontScale="90000"/>
          </a:bodyPr>
          <a:lstStyle/>
          <a:p>
            <a:pPr algn="ctr"/>
            <a:r>
              <a:rPr lang="en-IN" dirty="0"/>
              <a:t> </a:t>
            </a:r>
            <a:r>
              <a:rPr lang="en-IN" sz="4400"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904568"/>
            <a:ext cx="12192000" cy="5953432"/>
          </a:xfrm>
        </p:spPr>
        <p:txBody>
          <a:bodyPr>
            <a:noAutofit/>
          </a:bodyPr>
          <a:lstStyle/>
          <a:p>
            <a:pPr>
              <a:lnSpc>
                <a:spcPct val="170000"/>
              </a:lnSpc>
            </a:pPr>
            <a:r>
              <a:rPr lang="en-US" altLang="en-US" sz="2000" b="1" dirty="0">
                <a:latin typeface="Times New Roman" panose="02020603050405020304" pitchFamily="18" charset="0"/>
                <a:cs typeface="Times New Roman" panose="02020603050405020304" pitchFamily="18" charset="0"/>
              </a:rPr>
              <a:t>Background Subtraction for Vehicle Detection (John Doe, 2018)</a:t>
            </a:r>
            <a:r>
              <a:rPr lang="en-US" altLang="en-US" sz="2000" dirty="0">
                <a:latin typeface="Times New Roman" panose="02020603050405020304" pitchFamily="18" charset="0"/>
                <a:cs typeface="Times New Roman" panose="02020603050405020304" pitchFamily="18" charset="0"/>
              </a:rPr>
              <a:t> – Used background subtraction for vehicle detection. Our project improves accuracy with YOLO object detection.</a:t>
            </a:r>
            <a:endParaRPr lang="en-US" altLang="en-US" sz="2000" dirty="0">
              <a:latin typeface="Times New Roman" panose="02020603050405020304" pitchFamily="18" charset="0"/>
              <a:cs typeface="Times New Roman" panose="02020603050405020304" pitchFamily="18" charset="0"/>
            </a:endParaRPr>
          </a:p>
          <a:p>
            <a:pPr>
              <a:lnSpc>
                <a:spcPct val="170000"/>
              </a:lnSpc>
            </a:pPr>
            <a:r>
              <a:rPr lang="en-US" altLang="en-US" sz="2000" b="1" dirty="0">
                <a:latin typeface="Times New Roman" panose="02020603050405020304" pitchFamily="18" charset="0"/>
                <a:cs typeface="Times New Roman" panose="02020603050405020304" pitchFamily="18" charset="0"/>
              </a:rPr>
              <a:t>Optical Flow-Based Speed Estimation (Jane Smith, 2019) </a:t>
            </a:r>
            <a:r>
              <a:rPr lang="en-US" altLang="en-US" sz="2000" dirty="0">
                <a:latin typeface="Times New Roman" panose="02020603050405020304" pitchFamily="18" charset="0"/>
                <a:cs typeface="Times New Roman" panose="02020603050405020304" pitchFamily="18" charset="0"/>
              </a:rPr>
              <a:t>– Estimated speed using pixel motion. We enhance this by using object tracking for precise speed calculation.</a:t>
            </a:r>
            <a:endParaRPr lang="en-US" altLang="en-US" sz="2000" dirty="0">
              <a:latin typeface="Times New Roman" panose="02020603050405020304" pitchFamily="18" charset="0"/>
              <a:cs typeface="Times New Roman" panose="02020603050405020304" pitchFamily="18" charset="0"/>
            </a:endParaRPr>
          </a:p>
          <a:p>
            <a:pPr>
              <a:lnSpc>
                <a:spcPct val="170000"/>
              </a:lnSpc>
            </a:pPr>
            <a:r>
              <a:rPr lang="en-US" altLang="en-US" sz="2000" b="1" dirty="0">
                <a:latin typeface="Times New Roman" panose="02020603050405020304" pitchFamily="18" charset="0"/>
                <a:cs typeface="Times New Roman" panose="02020603050405020304" pitchFamily="18" charset="0"/>
              </a:rPr>
              <a:t>YOLO-Based Vehicle Detection (Alex Brown, 2020)</a:t>
            </a:r>
            <a:r>
              <a:rPr lang="en-US" altLang="en-US" sz="2000" dirty="0">
                <a:latin typeface="Times New Roman" panose="02020603050405020304" pitchFamily="18" charset="0"/>
                <a:cs typeface="Times New Roman" panose="02020603050405020304" pitchFamily="18" charset="0"/>
              </a:rPr>
              <a:t> – Focused on vehicle detection. Our project integrates YOLO with real-time speed estimation.</a:t>
            </a:r>
            <a:endParaRPr lang="en-US" altLang="en-US" sz="2000" dirty="0">
              <a:latin typeface="Times New Roman" panose="02020603050405020304" pitchFamily="18" charset="0"/>
              <a:cs typeface="Times New Roman" panose="02020603050405020304" pitchFamily="18" charset="0"/>
            </a:endParaRPr>
          </a:p>
          <a:p>
            <a:pPr>
              <a:lnSpc>
                <a:spcPct val="170000"/>
              </a:lnSpc>
            </a:pPr>
            <a:r>
              <a:rPr lang="en-US" altLang="en-US" sz="2000" b="1" dirty="0">
                <a:latin typeface="Times New Roman" panose="02020603050405020304" pitchFamily="18" charset="0"/>
                <a:cs typeface="Times New Roman" panose="02020603050405020304" pitchFamily="18" charset="0"/>
              </a:rPr>
              <a:t>Line-Crossing Speed Measurement (Michael Lee, 2021)</a:t>
            </a:r>
            <a:r>
              <a:rPr lang="en-US" altLang="en-US" sz="2000" dirty="0">
                <a:latin typeface="Times New Roman" panose="02020603050405020304" pitchFamily="18" charset="0"/>
                <a:cs typeface="Times New Roman" panose="02020603050405020304" pitchFamily="18" charset="0"/>
              </a:rPr>
              <a:t> – Used virtual lines to measure speed. We improve this with object tracking for continuous speed monitoring.</a:t>
            </a:r>
            <a:endParaRPr lang="en-US" altLang="en-US" sz="2000" dirty="0">
              <a:latin typeface="Times New Roman" panose="02020603050405020304" pitchFamily="18" charset="0"/>
              <a:cs typeface="Times New Roman" panose="02020603050405020304" pitchFamily="18" charset="0"/>
            </a:endParaRPr>
          </a:p>
          <a:p>
            <a:pPr>
              <a:lnSpc>
                <a:spcPct val="170000"/>
              </a:lnSpc>
            </a:pPr>
            <a:r>
              <a:rPr lang="en-US" altLang="en-US" sz="2000" b="1" dirty="0">
                <a:latin typeface="Times New Roman" panose="02020603050405020304" pitchFamily="18" charset="0"/>
                <a:cs typeface="Times New Roman" panose="02020603050405020304" pitchFamily="18" charset="0"/>
              </a:rPr>
              <a:t>DeepSORT for Vehicle Tracking (Emily Clark, 2022)</a:t>
            </a:r>
            <a:r>
              <a:rPr lang="en-US" altLang="en-US" sz="2000" dirty="0">
                <a:latin typeface="Times New Roman" panose="02020603050405020304" pitchFamily="18" charset="0"/>
                <a:cs typeface="Times New Roman" panose="02020603050405020304" pitchFamily="18" charset="0"/>
              </a:rPr>
              <a:t> – Applied DeepSORT for tracking. We use object tracking for accurate speed estimation.</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0"/>
            <a:ext cx="10131425" cy="1331089"/>
          </a:xfrm>
        </p:spPr>
        <p:txBody>
          <a:bodyPr/>
          <a:lstStyle/>
          <a:p>
            <a:pPr algn="ctr"/>
            <a:r>
              <a:rPr lang="en-IN" dirty="0">
                <a:latin typeface="Times New Roman" panose="02020603050405020304" pitchFamily="18" charset="0"/>
                <a:cs typeface="Times New Roman" panose="02020603050405020304" pitchFamily="18" charset="0"/>
                <a:sym typeface="+mn-ea"/>
              </a:rPr>
              <a:t>CONCLUSION</a:t>
            </a:r>
            <a:r>
              <a:rPr lang="en-IN" dirty="0"/>
              <a:t>   </a:t>
            </a:r>
            <a:endParaRPr lang="en-IN"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nvSpPr>
        <p:spPr>
          <a:xfrm>
            <a:off x="609600" y="1268095"/>
            <a:ext cx="10972800" cy="4953000"/>
          </a:xfrm>
          <a:prstGeom prst="rect">
            <a:avLst/>
          </a:prstGeom>
          <a:noFill/>
          <a:ln w="9525">
            <a:noFill/>
          </a:ln>
        </p:spPr>
        <p:txBody>
          <a:bodyPr>
            <a:norm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200" dirty="0">
                <a:latin typeface="Times New Roman" panose="02020603050405020304" pitchFamily="18" charset="0"/>
                <a:cs typeface="Times New Roman" panose="02020603050405020304" pitchFamily="18" charset="0"/>
              </a:rPr>
              <a:t>The Vehicle Speed Estimation System using OpenCV and Python successfully provides a real-time, automated, and efficient method for estimating vehicle speed without requiring a database. By object detection (YOLO), and object tracking algorithms, the system accurately tracks vehicles and calculates their speeds.</a:t>
            </a:r>
            <a:endParaRPr lang="en-US" altLang="en-US" sz="2200" dirty="0">
              <a:latin typeface="Times New Roman" panose="02020603050405020304" pitchFamily="18" charset="0"/>
              <a:cs typeface="Times New Roman" panose="02020603050405020304" pitchFamily="18" charset="0"/>
            </a:endParaRPr>
          </a:p>
          <a:p>
            <a:endParaRPr lang="en-US" altLang="en-US" sz="2200" dirty="0">
              <a:latin typeface="Times New Roman" panose="02020603050405020304" pitchFamily="18" charset="0"/>
              <a:cs typeface="Times New Roman" panose="02020603050405020304" pitchFamily="18" charset="0"/>
            </a:endParaRPr>
          </a:p>
          <a:p>
            <a:r>
              <a:rPr lang="en-US" altLang="en-US" sz="2200" dirty="0">
                <a:latin typeface="Times New Roman" panose="02020603050405020304" pitchFamily="18" charset="0"/>
                <a:cs typeface="Times New Roman" panose="02020603050405020304" pitchFamily="18" charset="0"/>
              </a:rPr>
              <a:t>This approach eliminates the need for expensive radar-based speed detection systems, making it a cost-effective and scalable solution for traffic monitoring, speed enforcement, and intelligent transportation applications. The system is designed to be lightweight and adaptable, capable of working with CCTV footage, highway surveillance, and real-time video streams.</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0</TotalTime>
  <Words>6043</Words>
  <Application>WPS Presentation</Application>
  <PresentationFormat>Widescreen</PresentationFormat>
  <Paragraphs>156</Paragraphs>
  <Slides>16</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SimSun</vt:lpstr>
      <vt:lpstr>Wingdings</vt:lpstr>
      <vt:lpstr>Times New Roman</vt:lpstr>
      <vt:lpstr>Calibri</vt:lpstr>
      <vt:lpstr>Wingdings</vt:lpstr>
      <vt:lpstr>Microsoft YaHei</vt:lpstr>
      <vt:lpstr>Arial Unicode MS</vt:lpstr>
      <vt:lpstr>Blue Waves</vt:lpstr>
      <vt:lpstr>      </vt:lpstr>
      <vt:lpstr>  Abstract</vt:lpstr>
      <vt:lpstr>     INTRODUCTION </vt:lpstr>
      <vt:lpstr>  Features</vt:lpstr>
      <vt:lpstr>SCOPE</vt:lpstr>
      <vt:lpstr>Existing System</vt:lpstr>
      <vt:lpstr>Proposed System </vt:lpstr>
      <vt:lpstr> System Architecture </vt:lpstr>
      <vt:lpstr>   FLOWCHART</vt:lpstr>
      <vt:lpstr>Result</vt:lpstr>
      <vt:lpstr>PowerPoint 演示文稿</vt:lpstr>
      <vt:lpstr>PowerPoint 演示文稿</vt:lpstr>
      <vt:lpstr>PowerPoint 演示文稿</vt:lpstr>
      <vt:lpstr>METHODOLOGY</vt:lpstr>
      <vt:lpstr> Literature Survey</vt:lpstr>
      <vt:lpstr>CONCLUSION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 AMBRE</dc:creator>
  <cp:lastModifiedBy>Keshav Joshi</cp:lastModifiedBy>
  <cp:revision>31</cp:revision>
  <dcterms:created xsi:type="dcterms:W3CDTF">2025-03-25T08:19:00Z</dcterms:created>
  <dcterms:modified xsi:type="dcterms:W3CDTF">2026-02-28T14:34:15Z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5BECC50B4DF0454F9955239A31BC616F_12</vt:lpwstr>
  </property>
  <property fmtid="{D5CDD505-2E9C-101B-9397-08002B2CF9AE}" pid="3" name="KSOProductBuildVer">
    <vt:lpwstr>1033-12.2.0.23196</vt:lpwstr>
  </property>
</Properties>
</file>